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8862" autoAdjust="0"/>
  </p:normalViewPr>
  <p:slideViewPr>
    <p:cSldViewPr snapToGrid="0" snapToObjects="1">
      <p:cViewPr>
        <p:scale>
          <a:sx n="125" d="100"/>
          <a:sy n="125" d="100"/>
        </p:scale>
        <p:origin x="1194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8712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 </a:t>
            </a:r>
            <a:r>
              <a:rPr lang="en-US" dirty="0" err="1"/>
              <a:t>mp</a:t>
            </a:r>
            <a:r>
              <a:rPr lang="en-US" dirty="0"/>
              <a:t> – Bárkányi Máté. </a:t>
            </a:r>
            <a:r>
              <a:rPr lang="en-US" dirty="0" err="1"/>
              <a:t>Bemutatkozás</a:t>
            </a:r>
            <a:r>
              <a:rPr lang="en-US" dirty="0"/>
              <a:t>: a </a:t>
            </a:r>
            <a:r>
              <a:rPr lang="en-US" dirty="0" err="1"/>
              <a:t>csoport</a:t>
            </a:r>
            <a:r>
              <a:rPr lang="en-US" dirty="0"/>
              <a:t> </a:t>
            </a:r>
            <a:r>
              <a:rPr lang="en-US" dirty="0" err="1"/>
              <a:t>tagjai</a:t>
            </a:r>
            <a:r>
              <a:rPr lang="en-US" dirty="0"/>
              <a:t> Bárkányi Máté, Horváth Máté </a:t>
            </a:r>
            <a:r>
              <a:rPr lang="en-US" dirty="0" err="1"/>
              <a:t>és</a:t>
            </a:r>
            <a:r>
              <a:rPr lang="en-US" dirty="0"/>
              <a:t> Kiss Barnabás; a </a:t>
            </a:r>
            <a:r>
              <a:rPr lang="en-US" dirty="0" err="1"/>
              <a:t>leltározó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leltárkezelő</a:t>
            </a:r>
            <a:r>
              <a:rPr lang="en-US" dirty="0"/>
              <a:t> </a:t>
            </a:r>
            <a:r>
              <a:rPr lang="en-US" dirty="0" err="1"/>
              <a:t>alkalmazást</a:t>
            </a:r>
            <a:r>
              <a:rPr lang="en-US" dirty="0"/>
              <a:t> </a:t>
            </a:r>
            <a:r>
              <a:rPr lang="en-US" dirty="0" err="1"/>
              <a:t>fejlesztjük</a:t>
            </a:r>
            <a:r>
              <a:rPr lang="en-US" dirty="0"/>
              <a:t>. Ma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mutatjuk</a:t>
            </a:r>
            <a:r>
              <a:rPr lang="en-US" dirty="0"/>
              <a:t> be,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értelmeztük</a:t>
            </a:r>
            <a:r>
              <a:rPr lang="en-US" dirty="0"/>
              <a:t> a </a:t>
            </a:r>
            <a:r>
              <a:rPr lang="en-US" dirty="0" err="1"/>
              <a:t>problémát</a:t>
            </a:r>
            <a:r>
              <a:rPr lang="en-US" dirty="0"/>
              <a:t>,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tanultunk</a:t>
            </a:r>
            <a:r>
              <a:rPr lang="en-US" dirty="0"/>
              <a:t> </a:t>
            </a:r>
            <a:r>
              <a:rPr lang="en-US" dirty="0" err="1"/>
              <a:t>hasonló</a:t>
            </a:r>
            <a:r>
              <a:rPr lang="en-US" dirty="0"/>
              <a:t> </a:t>
            </a:r>
            <a:r>
              <a:rPr lang="en-US" dirty="0" err="1"/>
              <a:t>rendszerekből</a:t>
            </a:r>
            <a:r>
              <a:rPr lang="en-US" dirty="0"/>
              <a:t>,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irányban</a:t>
            </a:r>
            <a:r>
              <a:rPr lang="en-US" dirty="0"/>
              <a:t> </a:t>
            </a:r>
            <a:r>
              <a:rPr lang="en-US" dirty="0" err="1"/>
              <a:t>indulunk</a:t>
            </a:r>
            <a:r>
              <a:rPr lang="en-US" dirty="0"/>
              <a:t> 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~40 </a:t>
            </a:r>
            <a:r>
              <a:rPr lang="en-US" dirty="0" err="1"/>
              <a:t>mp</a:t>
            </a:r>
            <a:r>
              <a:rPr lang="en-US" dirty="0"/>
              <a:t> – Bárkányi Máté. A </a:t>
            </a:r>
            <a:r>
              <a:rPr lang="en-US" dirty="0" err="1"/>
              <a:t>leltár</a:t>
            </a:r>
            <a:r>
              <a:rPr lang="en-US" dirty="0"/>
              <a:t> </a:t>
            </a:r>
            <a:r>
              <a:rPr lang="en-US" dirty="0" err="1"/>
              <a:t>célja</a:t>
            </a:r>
            <a:r>
              <a:rPr lang="en-US" dirty="0"/>
              <a:t>: a </a:t>
            </a:r>
            <a:r>
              <a:rPr lang="en-US" dirty="0" err="1"/>
              <a:t>nyilvántartásban</a:t>
            </a:r>
            <a:r>
              <a:rPr lang="en-US" dirty="0"/>
              <a:t> </a:t>
            </a:r>
            <a:r>
              <a:rPr lang="en-US" dirty="0" err="1"/>
              <a:t>lévő</a:t>
            </a:r>
            <a:r>
              <a:rPr lang="en-US" dirty="0"/>
              <a:t> </a:t>
            </a:r>
            <a:r>
              <a:rPr lang="en-US" dirty="0" err="1"/>
              <a:t>eszközök</a:t>
            </a:r>
            <a:r>
              <a:rPr lang="en-US" dirty="0"/>
              <a:t> </a:t>
            </a:r>
            <a:r>
              <a:rPr lang="en-US" dirty="0" err="1"/>
              <a:t>fizikailag</a:t>
            </a:r>
            <a:r>
              <a:rPr lang="en-US" dirty="0"/>
              <a:t> is </a:t>
            </a:r>
            <a:r>
              <a:rPr lang="en-US" dirty="0" err="1"/>
              <a:t>megvannak</a:t>
            </a:r>
            <a:r>
              <a:rPr lang="en-US" dirty="0"/>
              <a:t>-e. </a:t>
            </a:r>
            <a:r>
              <a:rPr lang="en-US" dirty="0" err="1"/>
              <a:t>Négy</a:t>
            </a:r>
            <a:r>
              <a:rPr lang="en-US" dirty="0"/>
              <a:t> </a:t>
            </a:r>
            <a:r>
              <a:rPr lang="en-US" dirty="0" err="1"/>
              <a:t>fő</a:t>
            </a:r>
            <a:r>
              <a:rPr lang="en-US" dirty="0"/>
              <a:t> </a:t>
            </a:r>
            <a:r>
              <a:rPr lang="en-US" dirty="0" err="1"/>
              <a:t>nehézség</a:t>
            </a:r>
            <a:r>
              <a:rPr lang="en-US" dirty="0"/>
              <a:t>: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kód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eszközön</a:t>
            </a:r>
            <a:r>
              <a:rPr lang="en-US" dirty="0"/>
              <a:t>; </a:t>
            </a:r>
            <a:r>
              <a:rPr lang="en-US" dirty="0" err="1"/>
              <a:t>mennyiséges</a:t>
            </a:r>
            <a:r>
              <a:rPr lang="en-US" dirty="0"/>
              <a:t> </a:t>
            </a:r>
            <a:r>
              <a:rPr lang="en-US" dirty="0" err="1"/>
              <a:t>tételek</a:t>
            </a:r>
            <a:r>
              <a:rPr lang="en-US" dirty="0"/>
              <a:t>;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körzetben</a:t>
            </a:r>
            <a:r>
              <a:rPr lang="en-US" dirty="0"/>
              <a:t> </a:t>
            </a:r>
            <a:r>
              <a:rPr lang="en-US" dirty="0" err="1"/>
              <a:t>előkerülő</a:t>
            </a:r>
            <a:r>
              <a:rPr lang="en-US" dirty="0"/>
              <a:t> </a:t>
            </a:r>
            <a:r>
              <a:rPr lang="en-US" dirty="0" err="1"/>
              <a:t>eszközök</a:t>
            </a:r>
            <a:r>
              <a:rPr lang="en-US" dirty="0"/>
              <a:t>; a </a:t>
            </a:r>
            <a:r>
              <a:rPr lang="en-US" dirty="0" err="1"/>
              <a:t>hely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a </a:t>
            </a:r>
            <a:r>
              <a:rPr lang="en-US" dirty="0" err="1"/>
              <a:t>korábbi</a:t>
            </a:r>
            <a:r>
              <a:rPr lang="en-US" dirty="0"/>
              <a:t> </a:t>
            </a:r>
            <a:r>
              <a:rPr lang="en-US" dirty="0" err="1"/>
              <a:t>eredmények</a:t>
            </a:r>
            <a:r>
              <a:rPr lang="en-US" dirty="0"/>
              <a:t> </a:t>
            </a:r>
            <a:r>
              <a:rPr lang="en-US" dirty="0" err="1"/>
              <a:t>hiánya</a:t>
            </a:r>
            <a:r>
              <a:rPr lang="en-US" dirty="0"/>
              <a:t>. </a:t>
            </a:r>
            <a:r>
              <a:rPr lang="en-US" dirty="0" err="1"/>
              <a:t>Ezért</a:t>
            </a:r>
            <a:r>
              <a:rPr lang="en-US" dirty="0"/>
              <a:t> nem </a:t>
            </a:r>
            <a:r>
              <a:rPr lang="en-US" dirty="0" err="1"/>
              <a:t>elég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Excel-</a:t>
            </a:r>
            <a:r>
              <a:rPr lang="en-US" dirty="0" err="1"/>
              <a:t>tábla</a:t>
            </a:r>
            <a:r>
              <a:rPr lang="en-US" dirty="0"/>
              <a:t>. </a:t>
            </a:r>
            <a:r>
              <a:rPr lang="en-US" dirty="0" err="1"/>
              <a:t>Átadás</a:t>
            </a:r>
            <a:r>
              <a:rPr lang="en-US" dirty="0"/>
              <a:t>: Horváth Máté.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~40 </a:t>
            </a:r>
            <a:r>
              <a:rPr lang="en-US" dirty="0" err="1"/>
              <a:t>mp</a:t>
            </a:r>
            <a:r>
              <a:rPr lang="en-US" dirty="0"/>
              <a:t> – Horváth Máté. </a:t>
            </a:r>
            <a:r>
              <a:rPr lang="en-US" dirty="0" err="1"/>
              <a:t>Öt</a:t>
            </a:r>
            <a:r>
              <a:rPr lang="en-US" dirty="0"/>
              <a:t> </a:t>
            </a:r>
            <a:r>
              <a:rPr lang="en-US" dirty="0" err="1"/>
              <a:t>rendszert</a:t>
            </a:r>
            <a:r>
              <a:rPr lang="en-US" dirty="0"/>
              <a:t> </a:t>
            </a:r>
            <a:r>
              <a:rPr lang="en-US" dirty="0" err="1"/>
              <a:t>néztünk</a:t>
            </a:r>
            <a:r>
              <a:rPr lang="en-US" dirty="0"/>
              <a:t> meg. </a:t>
            </a:r>
            <a:r>
              <a:rPr lang="en-US" dirty="0" err="1"/>
              <a:t>Mindegyikből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konkrét</a:t>
            </a:r>
            <a:r>
              <a:rPr lang="en-US" dirty="0"/>
              <a:t> </a:t>
            </a:r>
            <a:r>
              <a:rPr lang="en-US" dirty="0" err="1"/>
              <a:t>tanulságot</a:t>
            </a:r>
            <a:r>
              <a:rPr lang="en-US" dirty="0"/>
              <a:t> </a:t>
            </a:r>
            <a:r>
              <a:rPr lang="en-US" dirty="0" err="1"/>
              <a:t>hozunk</a:t>
            </a:r>
            <a:r>
              <a:rPr lang="en-US" dirty="0"/>
              <a:t>: </a:t>
            </a:r>
            <a:r>
              <a:rPr lang="en-US" dirty="0" err="1"/>
              <a:t>eseménynapló</a:t>
            </a:r>
            <a:r>
              <a:rPr lang="en-US" dirty="0"/>
              <a:t>, </a:t>
            </a:r>
            <a:r>
              <a:rPr lang="en-US" dirty="0" err="1"/>
              <a:t>módosítástörténet</a:t>
            </a:r>
            <a:r>
              <a:rPr lang="en-US" dirty="0"/>
              <a:t>, </a:t>
            </a:r>
            <a:r>
              <a:rPr lang="en-US" dirty="0" err="1"/>
              <a:t>elvárt</a:t>
            </a:r>
            <a:r>
              <a:rPr lang="en-US" dirty="0"/>
              <a:t> vs. </a:t>
            </a:r>
            <a:r>
              <a:rPr lang="en-US" dirty="0" err="1"/>
              <a:t>megszámolt</a:t>
            </a:r>
            <a:r>
              <a:rPr lang="en-US" dirty="0"/>
              <a:t> </a:t>
            </a:r>
            <a:r>
              <a:rPr lang="en-US" dirty="0" err="1"/>
              <a:t>mennyiség</a:t>
            </a:r>
            <a:r>
              <a:rPr lang="en-US" dirty="0"/>
              <a:t>, </a:t>
            </a:r>
            <a:r>
              <a:rPr lang="en-US" dirty="0" err="1"/>
              <a:t>időfüggő</a:t>
            </a:r>
            <a:r>
              <a:rPr lang="en-US" dirty="0"/>
              <a:t> </a:t>
            </a:r>
            <a:r>
              <a:rPr lang="en-US" dirty="0" err="1"/>
              <a:t>helyadat</a:t>
            </a:r>
            <a:r>
              <a:rPr lang="en-US" dirty="0"/>
              <a:t>, </a:t>
            </a:r>
            <a:r>
              <a:rPr lang="en-US" dirty="0" err="1"/>
              <a:t>gyors</a:t>
            </a:r>
            <a:r>
              <a:rPr lang="en-US" dirty="0"/>
              <a:t> </a:t>
            </a:r>
            <a:r>
              <a:rPr lang="en-US" dirty="0" err="1"/>
              <a:t>beolvasó</a:t>
            </a:r>
            <a:r>
              <a:rPr lang="en-US" dirty="0"/>
              <a:t> </a:t>
            </a:r>
            <a:r>
              <a:rPr lang="en-US" dirty="0" err="1"/>
              <a:t>felület</a:t>
            </a:r>
            <a:r>
              <a:rPr lang="en-US" dirty="0"/>
              <a:t>.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fedi</a:t>
            </a:r>
            <a:r>
              <a:rPr lang="en-US" dirty="0"/>
              <a:t> le a </a:t>
            </a:r>
            <a:r>
              <a:rPr lang="en-US" dirty="0" err="1"/>
              <a:t>teljes</a:t>
            </a:r>
            <a:r>
              <a:rPr lang="en-US" dirty="0"/>
              <a:t> </a:t>
            </a:r>
            <a:r>
              <a:rPr lang="en-US" dirty="0" err="1"/>
              <a:t>feladatot</a:t>
            </a:r>
            <a:r>
              <a:rPr lang="en-US" dirty="0"/>
              <a:t>,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asztali</a:t>
            </a:r>
            <a:r>
              <a:rPr lang="en-US" dirty="0"/>
              <a:t> </a:t>
            </a:r>
            <a:r>
              <a:rPr lang="en-US" dirty="0" err="1"/>
              <a:t>kliens</a:t>
            </a:r>
            <a:r>
              <a:rPr lang="en-US" dirty="0"/>
              <a:t> –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indokolja</a:t>
            </a:r>
            <a:r>
              <a:rPr lang="en-US" dirty="0"/>
              <a:t> a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rendszert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~40 </a:t>
            </a:r>
            <a:r>
              <a:rPr lang="en-US" dirty="0" err="1"/>
              <a:t>mp</a:t>
            </a:r>
            <a:r>
              <a:rPr lang="en-US" dirty="0"/>
              <a:t> – Horváth Máté. </a:t>
            </a:r>
            <a:r>
              <a:rPr lang="en-US" dirty="0" err="1"/>
              <a:t>Négy</a:t>
            </a:r>
            <a:r>
              <a:rPr lang="en-US" dirty="0"/>
              <a:t> </a:t>
            </a:r>
            <a:r>
              <a:rPr lang="en-US" dirty="0" err="1"/>
              <a:t>szerepkört</a:t>
            </a:r>
            <a:r>
              <a:rPr lang="en-US" dirty="0"/>
              <a:t> </a:t>
            </a:r>
            <a:r>
              <a:rPr lang="en-US" dirty="0" err="1"/>
              <a:t>azonosítottunk</a:t>
            </a:r>
            <a:r>
              <a:rPr lang="en-US" dirty="0"/>
              <a:t> a </a:t>
            </a:r>
            <a:r>
              <a:rPr lang="en-US" dirty="0" err="1"/>
              <a:t>valós</a:t>
            </a:r>
            <a:r>
              <a:rPr lang="en-US" dirty="0"/>
              <a:t> </a:t>
            </a:r>
            <a:r>
              <a:rPr lang="en-US" dirty="0" err="1"/>
              <a:t>leltározási</a:t>
            </a:r>
            <a:r>
              <a:rPr lang="en-US" dirty="0"/>
              <a:t> </a:t>
            </a:r>
            <a:r>
              <a:rPr lang="en-US" dirty="0" err="1"/>
              <a:t>folyamat</a:t>
            </a:r>
            <a:r>
              <a:rPr lang="en-US" dirty="0"/>
              <a:t> </a:t>
            </a:r>
            <a:r>
              <a:rPr lang="en-US" dirty="0" err="1"/>
              <a:t>alapján</a:t>
            </a:r>
            <a:r>
              <a:rPr lang="en-US" dirty="0"/>
              <a:t>; a </a:t>
            </a:r>
            <a:r>
              <a:rPr lang="en-US" dirty="0" err="1"/>
              <a:t>felelős</a:t>
            </a:r>
            <a:r>
              <a:rPr lang="en-US" dirty="0"/>
              <a:t> </a:t>
            </a:r>
            <a:r>
              <a:rPr lang="en-US" dirty="0" err="1"/>
              <a:t>személy</a:t>
            </a:r>
            <a:r>
              <a:rPr lang="en-US" dirty="0"/>
              <a:t> nem </a:t>
            </a:r>
            <a:r>
              <a:rPr lang="en-US" dirty="0" err="1"/>
              <a:t>feltétlenül</a:t>
            </a:r>
            <a:r>
              <a:rPr lang="en-US" dirty="0"/>
              <a:t> </a:t>
            </a:r>
            <a:r>
              <a:rPr lang="en-US" dirty="0" err="1"/>
              <a:t>felhasználó</a:t>
            </a:r>
            <a:r>
              <a:rPr lang="en-US" dirty="0"/>
              <a:t>. Jobb </a:t>
            </a:r>
            <a:r>
              <a:rPr lang="en-US" dirty="0" err="1"/>
              <a:t>oldalon</a:t>
            </a:r>
            <a:r>
              <a:rPr lang="en-US" dirty="0"/>
              <a:t> a </a:t>
            </a:r>
            <a:r>
              <a:rPr lang="en-US" dirty="0" err="1"/>
              <a:t>leltár</a:t>
            </a:r>
            <a:r>
              <a:rPr lang="en-US" dirty="0"/>
              <a:t> </a:t>
            </a:r>
            <a:r>
              <a:rPr lang="en-US" dirty="0" err="1"/>
              <a:t>életciklusa</a:t>
            </a:r>
            <a:r>
              <a:rPr lang="en-US" dirty="0"/>
              <a:t>: import, </a:t>
            </a:r>
            <a:r>
              <a:rPr lang="en-US" dirty="0" err="1"/>
              <a:t>időszak</a:t>
            </a:r>
            <a:r>
              <a:rPr lang="en-US" dirty="0"/>
              <a:t> </a:t>
            </a:r>
            <a:r>
              <a:rPr lang="en-US" dirty="0" err="1"/>
              <a:t>nyitása</a:t>
            </a:r>
            <a:r>
              <a:rPr lang="en-US" dirty="0"/>
              <a:t> </a:t>
            </a:r>
            <a:r>
              <a:rPr lang="en-US" dirty="0" err="1"/>
              <a:t>pillanatképpel</a:t>
            </a:r>
            <a:r>
              <a:rPr lang="en-US" dirty="0"/>
              <a:t>, </a:t>
            </a:r>
            <a:r>
              <a:rPr lang="en-US" dirty="0" err="1"/>
              <a:t>helyiségenkénti</a:t>
            </a:r>
            <a:r>
              <a:rPr lang="en-US" dirty="0"/>
              <a:t> </a:t>
            </a:r>
            <a:r>
              <a:rPr lang="en-US" dirty="0" err="1"/>
              <a:t>beolvasás</a:t>
            </a:r>
            <a:r>
              <a:rPr lang="en-US" dirty="0"/>
              <a:t>, </a:t>
            </a:r>
            <a:r>
              <a:rPr lang="en-US" dirty="0" err="1"/>
              <a:t>javítás</a:t>
            </a:r>
            <a:r>
              <a:rPr lang="en-US" dirty="0"/>
              <a:t>, </a:t>
            </a:r>
            <a:r>
              <a:rPr lang="en-US" dirty="0" err="1"/>
              <a:t>összehasonlítás</a:t>
            </a:r>
            <a:r>
              <a:rPr lang="en-US" dirty="0"/>
              <a:t>, </a:t>
            </a:r>
            <a:r>
              <a:rPr lang="en-US" dirty="0" err="1"/>
              <a:t>lezárás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riport</a:t>
            </a:r>
            <a:r>
              <a:rPr lang="en-US" dirty="0"/>
              <a:t>. </a:t>
            </a:r>
            <a:r>
              <a:rPr lang="en-US" dirty="0" err="1"/>
              <a:t>Átadás</a:t>
            </a:r>
            <a:r>
              <a:rPr lang="en-US" dirty="0"/>
              <a:t>: Kiss Barnabás.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~45 mp – Kiss Barnabás. Ez a rendszer szíve. A vonalkódolvasó billentyűzetként ír a mezőbe; olvasó nélkül </a:t>
            </a:r>
            <a:r>
              <a:rPr lang="hu-HU" dirty="0" err="1"/>
              <a:t>Ctrl+V-vel</a:t>
            </a:r>
            <a:r>
              <a:rPr lang="hu-HU" dirty="0"/>
              <a:t> vagy demó móddal is működik. A szerver minősíti a beolvasást: megtalálva, más körzet, ismételt, többlet, ismeretlen – mindegyik rögzül, egyiket sem dobjuk el, javítani csak sztornóval lehet. Ezek a mi feltételezéseink, a dokumentációban indokoljuk őket.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~35 </a:t>
            </a:r>
            <a:r>
              <a:rPr lang="en-US" dirty="0" err="1"/>
              <a:t>mp</a:t>
            </a:r>
            <a:r>
              <a:rPr lang="en-US" dirty="0"/>
              <a:t> – Kiss Barnabás. A </a:t>
            </a:r>
            <a:r>
              <a:rPr lang="en-US" dirty="0" err="1"/>
              <a:t>funkciókat</a:t>
            </a:r>
            <a:r>
              <a:rPr lang="en-US" dirty="0"/>
              <a:t> </a:t>
            </a:r>
            <a:r>
              <a:rPr lang="en-US" dirty="0" err="1"/>
              <a:t>MoSCoW</a:t>
            </a:r>
            <a:r>
              <a:rPr lang="en-US" dirty="0"/>
              <a:t> </a:t>
            </a:r>
            <a:r>
              <a:rPr lang="en-US" dirty="0" err="1"/>
              <a:t>szerint</a:t>
            </a:r>
            <a:r>
              <a:rPr lang="en-US" dirty="0"/>
              <a:t> </a:t>
            </a:r>
            <a:r>
              <a:rPr lang="en-US" dirty="0" err="1"/>
              <a:t>priorizáltuk</a:t>
            </a:r>
            <a:r>
              <a:rPr lang="en-US" dirty="0"/>
              <a:t>. Bal </a:t>
            </a:r>
            <a:r>
              <a:rPr lang="en-US" dirty="0" err="1"/>
              <a:t>oldalon</a:t>
            </a:r>
            <a:r>
              <a:rPr lang="en-US" dirty="0"/>
              <a:t> a </a:t>
            </a:r>
            <a:r>
              <a:rPr lang="en-US" dirty="0" err="1"/>
              <a:t>kötelező</a:t>
            </a:r>
            <a:r>
              <a:rPr lang="en-US" dirty="0"/>
              <a:t> </a:t>
            </a:r>
            <a:r>
              <a:rPr lang="en-US" dirty="0" err="1"/>
              <a:t>kör</a:t>
            </a:r>
            <a:r>
              <a:rPr lang="en-US" dirty="0"/>
              <a:t>, </a:t>
            </a:r>
            <a:r>
              <a:rPr lang="en-US" dirty="0" err="1"/>
              <a:t>középen</a:t>
            </a:r>
            <a:r>
              <a:rPr lang="en-US" dirty="0"/>
              <a:t> </a:t>
            </a:r>
            <a:r>
              <a:rPr lang="en-US" dirty="0" err="1"/>
              <a:t>amit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valós</a:t>
            </a:r>
            <a:r>
              <a:rPr lang="en-US" dirty="0"/>
              <a:t> </a:t>
            </a:r>
            <a:r>
              <a:rPr lang="en-US" dirty="0" err="1"/>
              <a:t>rendszerben</a:t>
            </a:r>
            <a:r>
              <a:rPr lang="en-US" dirty="0"/>
              <a:t> </a:t>
            </a:r>
            <a:r>
              <a:rPr lang="en-US" dirty="0" err="1"/>
              <a:t>elvárnánk</a:t>
            </a:r>
            <a:r>
              <a:rPr lang="en-US" dirty="0"/>
              <a:t>, </a:t>
            </a:r>
            <a:r>
              <a:rPr lang="en-US" dirty="0" err="1"/>
              <a:t>jobbra</a:t>
            </a:r>
            <a:r>
              <a:rPr lang="en-US" dirty="0"/>
              <a:t> a </a:t>
            </a:r>
            <a:r>
              <a:rPr lang="en-US" dirty="0" err="1"/>
              <a:t>kiegészítő</a:t>
            </a:r>
            <a:r>
              <a:rPr lang="en-US" dirty="0"/>
              <a:t> </a:t>
            </a:r>
            <a:r>
              <a:rPr lang="en-US" dirty="0" err="1"/>
              <a:t>funkció</a:t>
            </a:r>
            <a:r>
              <a:rPr lang="en-US" dirty="0"/>
              <a:t> </a:t>
            </a:r>
            <a:r>
              <a:rPr lang="en-US" dirty="0" err="1"/>
              <a:t>jelöltek</a:t>
            </a:r>
            <a:r>
              <a:rPr lang="en-US" dirty="0"/>
              <a:t> – </a:t>
            </a:r>
            <a:r>
              <a:rPr lang="en-US" dirty="0" err="1"/>
              <a:t>ezekből</a:t>
            </a:r>
            <a:r>
              <a:rPr lang="en-US" dirty="0"/>
              <a:t> 1–2-t a 3. </a:t>
            </a:r>
            <a:r>
              <a:rPr lang="en-US" dirty="0" err="1"/>
              <a:t>alkalmon</a:t>
            </a:r>
            <a:r>
              <a:rPr lang="en-US" dirty="0"/>
              <a:t> </a:t>
            </a:r>
            <a:r>
              <a:rPr lang="en-US" dirty="0" err="1"/>
              <a:t>javaslunk</a:t>
            </a:r>
            <a:r>
              <a:rPr lang="en-US" dirty="0"/>
              <a:t> </a:t>
            </a:r>
            <a:r>
              <a:rPr lang="en-US" dirty="0" err="1"/>
              <a:t>jóváhagyásra</a:t>
            </a:r>
            <a:r>
              <a:rPr lang="en-US" dirty="0"/>
              <a:t>. </a:t>
            </a:r>
            <a:r>
              <a:rPr lang="en-US" dirty="0" err="1"/>
              <a:t>Átadás</a:t>
            </a:r>
            <a:r>
              <a:rPr lang="en-US" dirty="0"/>
              <a:t>: Horváth Máté.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</a:t>
            </a:r>
            <a:r>
              <a:rPr lang="en-US" dirty="0" err="1"/>
              <a:t>mp</a:t>
            </a:r>
            <a:r>
              <a:rPr lang="en-US" dirty="0"/>
              <a:t> – Horváth Máté (</a:t>
            </a:r>
            <a:r>
              <a:rPr lang="en-US" dirty="0" err="1"/>
              <a:t>architektúra</a:t>
            </a:r>
            <a:r>
              <a:rPr lang="en-US" dirty="0"/>
              <a:t>), </a:t>
            </a:r>
            <a:r>
              <a:rPr lang="en-US" dirty="0" err="1"/>
              <a:t>majd</a:t>
            </a:r>
            <a:r>
              <a:rPr lang="en-US" dirty="0"/>
              <a:t> Kiss Barnabás (</a:t>
            </a:r>
            <a:r>
              <a:rPr lang="en-US" dirty="0" err="1"/>
              <a:t>adatmodell</a:t>
            </a:r>
            <a:r>
              <a:rPr lang="en-US" dirty="0"/>
              <a:t>). Horváth Máté: </a:t>
            </a:r>
            <a:r>
              <a:rPr lang="en-US" dirty="0" err="1"/>
              <a:t>vékony</a:t>
            </a:r>
            <a:r>
              <a:rPr lang="en-US" dirty="0"/>
              <a:t> </a:t>
            </a:r>
            <a:r>
              <a:rPr lang="en-US" dirty="0" err="1"/>
              <a:t>kliens</a:t>
            </a:r>
            <a:r>
              <a:rPr lang="en-US" dirty="0"/>
              <a:t>, </a:t>
            </a:r>
            <a:r>
              <a:rPr lang="en-US" dirty="0" err="1"/>
              <a:t>okos</a:t>
            </a:r>
            <a:r>
              <a:rPr lang="en-US" dirty="0"/>
              <a:t> </a:t>
            </a:r>
            <a:r>
              <a:rPr lang="en-US" dirty="0" err="1"/>
              <a:t>szerver</a:t>
            </a:r>
            <a:r>
              <a:rPr lang="en-US" dirty="0"/>
              <a:t> –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üzleti</a:t>
            </a:r>
            <a:r>
              <a:rPr lang="en-US" dirty="0"/>
              <a:t> </a:t>
            </a:r>
            <a:r>
              <a:rPr lang="en-US" dirty="0" err="1"/>
              <a:t>szabály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ASP.NET Core </a:t>
            </a:r>
            <a:r>
              <a:rPr lang="en-US" dirty="0" err="1"/>
              <a:t>szerveren</a:t>
            </a:r>
            <a:r>
              <a:rPr lang="en-US" dirty="0"/>
              <a:t> </a:t>
            </a:r>
            <a:r>
              <a:rPr lang="en-US" dirty="0" err="1"/>
              <a:t>fut</a:t>
            </a:r>
            <a:r>
              <a:rPr lang="en-US" dirty="0"/>
              <a:t>, a WPF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megjelenít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API-</a:t>
            </a:r>
            <a:r>
              <a:rPr lang="en-US" dirty="0" err="1"/>
              <a:t>ját</a:t>
            </a:r>
            <a:r>
              <a:rPr lang="en-US" dirty="0"/>
              <a:t> </a:t>
            </a:r>
            <a:r>
              <a:rPr lang="en-US" dirty="0" err="1"/>
              <a:t>hívja</a:t>
            </a:r>
            <a:r>
              <a:rPr lang="en-US" dirty="0"/>
              <a:t>. WPF </a:t>
            </a:r>
            <a:r>
              <a:rPr lang="en-US" dirty="0" err="1"/>
              <a:t>és</a:t>
            </a:r>
            <a:r>
              <a:rPr lang="en-US" dirty="0"/>
              <a:t> ASP.NET Core </a:t>
            </a:r>
            <a:r>
              <a:rPr lang="en-US" dirty="0" err="1"/>
              <a:t>mellett</a:t>
            </a:r>
            <a:r>
              <a:rPr lang="en-US" dirty="0"/>
              <a:t> </a:t>
            </a:r>
            <a:r>
              <a:rPr lang="en-US" dirty="0" err="1"/>
              <a:t>döntöttünk</a:t>
            </a:r>
            <a:r>
              <a:rPr lang="en-US" dirty="0"/>
              <a:t>: </a:t>
            </a:r>
            <a:r>
              <a:rPr lang="en-US" dirty="0" err="1"/>
              <a:t>közös</a:t>
            </a:r>
            <a:r>
              <a:rPr lang="en-US" dirty="0"/>
              <a:t> C# </a:t>
            </a:r>
            <a:r>
              <a:rPr lang="en-US" dirty="0" err="1"/>
              <a:t>nyelv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.NET platform </a:t>
            </a:r>
            <a:r>
              <a:rPr lang="en-US" dirty="0" err="1"/>
              <a:t>kliensen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szerveren</a:t>
            </a:r>
            <a:r>
              <a:rPr lang="en-US" dirty="0"/>
              <a:t>. Az </a:t>
            </a:r>
            <a:r>
              <a:rPr lang="en-US" dirty="0" err="1"/>
              <a:t>adatbázist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a </a:t>
            </a:r>
            <a:r>
              <a:rPr lang="en-US" dirty="0" err="1"/>
              <a:t>kommunikációs</a:t>
            </a:r>
            <a:r>
              <a:rPr lang="en-US" dirty="0"/>
              <a:t> </a:t>
            </a:r>
            <a:r>
              <a:rPr lang="en-US" dirty="0" err="1"/>
              <a:t>protokollt</a:t>
            </a:r>
            <a:r>
              <a:rPr lang="en-US" dirty="0"/>
              <a:t> a 3. </a:t>
            </a:r>
            <a:r>
              <a:rPr lang="en-US" dirty="0" err="1"/>
              <a:t>alkalomig</a:t>
            </a:r>
            <a:r>
              <a:rPr lang="en-US" dirty="0"/>
              <a:t> </a:t>
            </a:r>
            <a:r>
              <a:rPr lang="en-US" dirty="0" err="1"/>
              <a:t>választjuk</a:t>
            </a:r>
            <a:r>
              <a:rPr lang="en-US" dirty="0"/>
              <a:t> ki. Kiss Barnabás: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adatmodell</a:t>
            </a:r>
            <a:r>
              <a:rPr lang="en-US" dirty="0"/>
              <a:t> </a:t>
            </a:r>
            <a:r>
              <a:rPr lang="en-US" dirty="0" err="1"/>
              <a:t>négy</a:t>
            </a:r>
            <a:r>
              <a:rPr lang="en-US" dirty="0"/>
              <a:t> </a:t>
            </a:r>
            <a:r>
              <a:rPr lang="en-US" dirty="0" err="1"/>
              <a:t>területre</a:t>
            </a:r>
            <a:r>
              <a:rPr lang="en-US" dirty="0"/>
              <a:t> </a:t>
            </a:r>
            <a:r>
              <a:rPr lang="en-US" dirty="0" err="1"/>
              <a:t>bomlik</a:t>
            </a:r>
            <a:r>
              <a:rPr lang="en-US" dirty="0"/>
              <a:t>; a </a:t>
            </a:r>
            <a:r>
              <a:rPr lang="en-US" dirty="0" err="1"/>
              <a:t>lényeg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elvárt</a:t>
            </a:r>
            <a:r>
              <a:rPr lang="en-US" dirty="0"/>
              <a:t> </a:t>
            </a:r>
            <a:r>
              <a:rPr lang="en-US" dirty="0" err="1"/>
              <a:t>állomány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a </a:t>
            </a:r>
            <a:r>
              <a:rPr lang="en-US" dirty="0" err="1"/>
              <a:t>leltáreredmények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vannak</a:t>
            </a:r>
            <a:r>
              <a:rPr lang="en-US" dirty="0"/>
              <a:t>, a </a:t>
            </a:r>
            <a:r>
              <a:rPr lang="en-US" dirty="0" err="1"/>
              <a:t>hely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a </a:t>
            </a:r>
            <a:r>
              <a:rPr lang="en-US" dirty="0" err="1"/>
              <a:t>felelős</a:t>
            </a:r>
            <a:r>
              <a:rPr lang="en-US" dirty="0"/>
              <a:t>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érvényességi</a:t>
            </a:r>
            <a:r>
              <a:rPr lang="en-US" dirty="0"/>
              <a:t> </a:t>
            </a:r>
            <a:r>
              <a:rPr lang="en-US" dirty="0" err="1"/>
              <a:t>időszakkal</a:t>
            </a:r>
            <a:r>
              <a:rPr lang="en-US" dirty="0"/>
              <a:t> </a:t>
            </a:r>
            <a:r>
              <a:rPr lang="en-US" dirty="0" err="1"/>
              <a:t>tárolódik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~35 </a:t>
            </a:r>
            <a:r>
              <a:rPr lang="en-US" dirty="0" err="1"/>
              <a:t>mp</a:t>
            </a:r>
            <a:r>
              <a:rPr lang="en-US" dirty="0"/>
              <a:t> – </a:t>
            </a:r>
            <a:r>
              <a:rPr lang="en-US" dirty="0" err="1"/>
              <a:t>mindhárman</a:t>
            </a:r>
            <a:r>
              <a:rPr lang="en-US" dirty="0"/>
              <a:t>, </a:t>
            </a:r>
            <a:r>
              <a:rPr lang="en-US" dirty="0" err="1"/>
              <a:t>egy-egy</a:t>
            </a:r>
            <a:r>
              <a:rPr lang="en-US" dirty="0"/>
              <a:t> </a:t>
            </a:r>
            <a:r>
              <a:rPr lang="en-US" dirty="0" err="1"/>
              <a:t>mondatban</a:t>
            </a:r>
            <a:r>
              <a:rPr lang="en-US" dirty="0"/>
              <a:t> a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területükről</a:t>
            </a:r>
            <a:r>
              <a:rPr lang="en-US" dirty="0"/>
              <a:t>. Bárkányi Máté: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felhasználói</a:t>
            </a:r>
            <a:r>
              <a:rPr lang="en-US" dirty="0"/>
              <a:t> </a:t>
            </a:r>
            <a:r>
              <a:rPr lang="en-US" dirty="0" err="1"/>
              <a:t>élmény</a:t>
            </a:r>
            <a:r>
              <a:rPr lang="en-US" dirty="0"/>
              <a:t> – GUI, </a:t>
            </a:r>
            <a:r>
              <a:rPr lang="en-US" dirty="0" err="1"/>
              <a:t>leltározó</a:t>
            </a:r>
            <a:r>
              <a:rPr lang="en-US" dirty="0"/>
              <a:t> </a:t>
            </a:r>
            <a:r>
              <a:rPr lang="en-US" dirty="0" err="1"/>
              <a:t>képernyő</a:t>
            </a:r>
            <a:r>
              <a:rPr lang="en-US" dirty="0"/>
              <a:t>, </a:t>
            </a:r>
            <a:r>
              <a:rPr lang="en-US" dirty="0" err="1"/>
              <a:t>demó</a:t>
            </a:r>
            <a:r>
              <a:rPr lang="en-US" dirty="0"/>
              <a:t> </a:t>
            </a:r>
            <a:r>
              <a:rPr lang="en-US" dirty="0" err="1"/>
              <a:t>mód</a:t>
            </a:r>
            <a:r>
              <a:rPr lang="en-US" dirty="0"/>
              <a:t>. Horváth Máté: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üzleti</a:t>
            </a:r>
            <a:r>
              <a:rPr lang="en-US" dirty="0"/>
              <a:t> </a:t>
            </a:r>
            <a:r>
              <a:rPr lang="en-US" dirty="0" err="1"/>
              <a:t>logika</a:t>
            </a:r>
            <a:r>
              <a:rPr lang="en-US" dirty="0"/>
              <a:t> – </a:t>
            </a:r>
            <a:r>
              <a:rPr lang="en-US" dirty="0" err="1"/>
              <a:t>architektúra</a:t>
            </a:r>
            <a:r>
              <a:rPr lang="en-US" dirty="0"/>
              <a:t>, API, </a:t>
            </a:r>
            <a:r>
              <a:rPr lang="en-US" dirty="0" err="1"/>
              <a:t>leltárlogika</a:t>
            </a:r>
            <a:r>
              <a:rPr lang="en-US" dirty="0"/>
              <a:t>. Kiss Barnabás: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minőség</a:t>
            </a:r>
            <a:r>
              <a:rPr lang="en-US" dirty="0"/>
              <a:t> – </a:t>
            </a:r>
            <a:r>
              <a:rPr lang="en-US" dirty="0" err="1"/>
              <a:t>adatmodell</a:t>
            </a:r>
            <a:r>
              <a:rPr lang="en-US" dirty="0"/>
              <a:t>, import/export, </a:t>
            </a:r>
            <a:r>
              <a:rPr lang="en-US" dirty="0" err="1"/>
              <a:t>tesztelés</a:t>
            </a:r>
            <a:r>
              <a:rPr lang="en-US" dirty="0"/>
              <a:t>. </a:t>
            </a:r>
            <a:r>
              <a:rPr lang="en-US" dirty="0" err="1"/>
              <a:t>Közösen</a:t>
            </a:r>
            <a:r>
              <a:rPr lang="en-US" dirty="0"/>
              <a:t>: </a:t>
            </a:r>
            <a:r>
              <a:rPr lang="en-US" dirty="0" err="1"/>
              <a:t>mindenki</a:t>
            </a:r>
            <a:r>
              <a:rPr lang="en-US" dirty="0"/>
              <a:t> </a:t>
            </a:r>
            <a:r>
              <a:rPr lang="en-US" dirty="0" err="1"/>
              <a:t>megvalósít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teljes</a:t>
            </a:r>
            <a:r>
              <a:rPr lang="en-US" dirty="0"/>
              <a:t>, </a:t>
            </a:r>
            <a:r>
              <a:rPr lang="en-US" dirty="0" err="1"/>
              <a:t>végigérő</a:t>
            </a:r>
            <a:r>
              <a:rPr lang="en-US" dirty="0"/>
              <a:t> </a:t>
            </a:r>
            <a:r>
              <a:rPr lang="en-US" dirty="0" err="1"/>
              <a:t>funkciót</a:t>
            </a:r>
            <a:r>
              <a:rPr lang="en-US" dirty="0"/>
              <a:t> is,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kódot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másik</a:t>
            </a:r>
            <a:r>
              <a:rPr lang="en-US" dirty="0"/>
              <a:t> tag </a:t>
            </a:r>
            <a:r>
              <a:rPr lang="en-US" dirty="0" err="1"/>
              <a:t>néz</a:t>
            </a:r>
            <a:r>
              <a:rPr lang="en-US" dirty="0"/>
              <a:t> </a:t>
            </a:r>
            <a:r>
              <a:rPr lang="en-US" dirty="0" err="1"/>
              <a:t>át</a:t>
            </a:r>
            <a:r>
              <a:rPr lang="en-US" dirty="0"/>
              <a:t>. A 3. </a:t>
            </a:r>
            <a:r>
              <a:rPr lang="en-US" dirty="0" err="1"/>
              <a:t>alkalomig</a:t>
            </a:r>
            <a:r>
              <a:rPr lang="en-US" dirty="0"/>
              <a:t>: a WPF + ASP.NET Core </a:t>
            </a:r>
            <a:r>
              <a:rPr lang="en-US" dirty="0" err="1"/>
              <a:t>jóváhagyatása</a:t>
            </a:r>
            <a:r>
              <a:rPr lang="en-US" dirty="0"/>
              <a:t>, </a:t>
            </a:r>
            <a:r>
              <a:rPr lang="en-US" dirty="0" err="1"/>
              <a:t>adatbázis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kommunikációs</a:t>
            </a:r>
            <a:r>
              <a:rPr lang="en-US" dirty="0"/>
              <a:t> </a:t>
            </a:r>
            <a:r>
              <a:rPr lang="en-US" dirty="0" err="1"/>
              <a:t>protokoll</a:t>
            </a:r>
            <a:r>
              <a:rPr lang="en-US" dirty="0"/>
              <a:t> </a:t>
            </a:r>
            <a:r>
              <a:rPr lang="en-US" dirty="0" err="1"/>
              <a:t>kiválasztása</a:t>
            </a:r>
            <a:r>
              <a:rPr lang="en-US" dirty="0"/>
              <a:t>, </a:t>
            </a:r>
            <a:r>
              <a:rPr lang="en-US" dirty="0" err="1"/>
              <a:t>architektúra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adatmodell</a:t>
            </a:r>
            <a:r>
              <a:rPr lang="en-US" dirty="0"/>
              <a:t>, </a:t>
            </a:r>
            <a:r>
              <a:rPr lang="en-US" dirty="0" err="1"/>
              <a:t>drótvázak</a:t>
            </a:r>
            <a:r>
              <a:rPr lang="en-US" dirty="0"/>
              <a:t>, </a:t>
            </a:r>
            <a:r>
              <a:rPr lang="en-US" dirty="0" err="1"/>
              <a:t>leltárfolyamat</a:t>
            </a:r>
            <a:r>
              <a:rPr lang="en-US" dirty="0"/>
              <a:t>, </a:t>
            </a:r>
            <a:r>
              <a:rPr lang="en-US" dirty="0" err="1"/>
              <a:t>kiegészítő</a:t>
            </a:r>
            <a:r>
              <a:rPr lang="en-US" dirty="0"/>
              <a:t> </a:t>
            </a:r>
            <a:r>
              <a:rPr lang="en-US" dirty="0" err="1"/>
              <a:t>funkció</a:t>
            </a:r>
            <a:r>
              <a:rPr lang="en-US" dirty="0"/>
              <a:t> </a:t>
            </a:r>
            <a:r>
              <a:rPr lang="en-US" dirty="0" err="1"/>
              <a:t>javaslat</a:t>
            </a:r>
            <a:r>
              <a:rPr lang="en-US" dirty="0"/>
              <a:t>, 10–15 </a:t>
            </a:r>
            <a:r>
              <a:rPr lang="en-US" dirty="0" err="1"/>
              <a:t>oldal</a:t>
            </a:r>
            <a:r>
              <a:rPr lang="en-US" dirty="0"/>
              <a:t> </a:t>
            </a:r>
            <a:r>
              <a:rPr lang="en-US" dirty="0" err="1"/>
              <a:t>dokumentáció</a:t>
            </a:r>
            <a:r>
              <a:rPr lang="en-US" dirty="0"/>
              <a:t>. </a:t>
            </a:r>
            <a:r>
              <a:rPr lang="en-US" dirty="0" err="1"/>
              <a:t>Köszönjük</a:t>
            </a:r>
            <a:r>
              <a:rPr lang="en-US" dirty="0"/>
              <a:t>, </a:t>
            </a:r>
            <a:r>
              <a:rPr lang="en-US" dirty="0" err="1"/>
              <a:t>várjuk</a:t>
            </a:r>
            <a:r>
              <a:rPr lang="en-US" dirty="0"/>
              <a:t> a </a:t>
            </a:r>
            <a:r>
              <a:rPr lang="en-US" dirty="0" err="1"/>
              <a:t>kérdéseket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 LABOR  ·  2. ALKALOM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Leltárkezelő rendszer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Vonalkódos leltározás és hosszú távú eszköznyilvántartás egyetemi környezetben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hu-HU" sz="13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Bárkányi Máté</a:t>
            </a:r>
            <a:r>
              <a:rPr lang="en-US" sz="13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hu-HU" sz="13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Horváth Máté</a:t>
            </a:r>
            <a:r>
              <a:rPr lang="en-US" sz="13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hu-HU" sz="13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Kiss Barnabás</a:t>
            </a:r>
          </a:p>
        </p:txBody>
      </p:sp>
      <p:sp>
        <p:nvSpPr>
          <p:cNvPr id="7" name="Shape 5"/>
          <p:cNvSpPr/>
          <p:nvPr/>
        </p:nvSpPr>
        <p:spPr>
          <a:xfrm>
            <a:off x="5989320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6082589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Shape 7"/>
          <p:cNvSpPr/>
          <p:nvPr/>
        </p:nvSpPr>
        <p:spPr>
          <a:xfrm>
            <a:off x="6206947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Shape 8"/>
          <p:cNvSpPr/>
          <p:nvPr/>
        </p:nvSpPr>
        <p:spPr>
          <a:xfrm>
            <a:off x="6300216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6362395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6517843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6580022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Shape 12"/>
          <p:cNvSpPr/>
          <p:nvPr/>
        </p:nvSpPr>
        <p:spPr>
          <a:xfrm>
            <a:off x="6673291" y="1143000"/>
            <a:ext cx="9326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Shape 13"/>
          <p:cNvSpPr/>
          <p:nvPr/>
        </p:nvSpPr>
        <p:spPr>
          <a:xfrm>
            <a:off x="6797650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6922008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Shape 15"/>
          <p:cNvSpPr/>
          <p:nvPr/>
        </p:nvSpPr>
        <p:spPr>
          <a:xfrm>
            <a:off x="6984187" y="1143000"/>
            <a:ext cx="9326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7108546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Shape 17"/>
          <p:cNvSpPr/>
          <p:nvPr/>
        </p:nvSpPr>
        <p:spPr>
          <a:xfrm>
            <a:off x="7201814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Shape 18"/>
          <p:cNvSpPr/>
          <p:nvPr/>
        </p:nvSpPr>
        <p:spPr>
          <a:xfrm>
            <a:off x="7295083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Shape 19"/>
          <p:cNvSpPr/>
          <p:nvPr/>
        </p:nvSpPr>
        <p:spPr>
          <a:xfrm>
            <a:off x="7419442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Shape 20"/>
          <p:cNvSpPr/>
          <p:nvPr/>
        </p:nvSpPr>
        <p:spPr>
          <a:xfrm>
            <a:off x="7481621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 txBox="1"/>
          <p:nvPr/>
        </p:nvSpPr>
        <p:spPr>
          <a:xfrm>
            <a:off x="5897880" y="3383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A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 4000123  ·  LSZ-00872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15000" y="2176272"/>
            <a:ext cx="2926080" cy="45720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Diaszam"/>
          <p:cNvSpPr txBox="1"/>
          <p:nvPr/>
        </p:nvSpPr>
        <p:spPr>
          <a:xfrm>
            <a:off x="7670800" y="4759452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fld id="{0A5FAB98-487F-48CD-ACC1-D6CB708072A3}" type="slidenum">
              <a:rPr lang="hu-HU" sz="1100" smtClean="0">
                <a:solidFill>
                  <a:srgbClr val="C9DADD"/>
                </a:solidFill>
                <a:latin typeface="Calibri" panose="020F0502020204030204" pitchFamily="34" charset="0"/>
              </a:rPr>
              <a:pPr algn="r"/>
              <a:t>1</a:t>
            </a:fld>
            <a:r>
              <a:rPr lang="hu-HU" sz="1100" smtClean="0">
                <a:solidFill>
                  <a:srgbClr val="C9DADD"/>
                </a:solidFill>
                <a:latin typeface="Calibri" panose="020F0502020204030204" pitchFamily="34" charset="0"/>
              </a:rPr>
              <a:t> / 8</a:t>
            </a:r>
            <a:endParaRPr lang="hu-HU" sz="1100">
              <a:solidFill>
                <a:srgbClr val="C9DADD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Miért nehéz egy egyetemi leltár?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elvárt állomány egy Excel exportban él – a valóság a termekben és a folyosókon.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1508760"/>
          </a:xfrm>
          <a:prstGeom prst="roundRect">
            <a:avLst>
              <a:gd name="adj" fmla="val 727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658368" cy="658368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185623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18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eszköz – több kód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0756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szám, leltári szám, gyári szám: az eszközön bármelyik lehet.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63440" y="1417320"/>
            <a:ext cx="4023360" cy="1508760"/>
          </a:xfrm>
          <a:prstGeom prst="roundRect">
            <a:avLst>
              <a:gd name="adj" fmla="val 727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Shape 7"/>
          <p:cNvSpPr/>
          <p:nvPr/>
        </p:nvSpPr>
        <p:spPr>
          <a:xfrm>
            <a:off x="4892040" y="1691640"/>
            <a:ext cx="658368" cy="658368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1856232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60720" y="1618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szék – egy rekord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20756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elég a „megvan / nincs meg”: darabszám, hiány és többlet kell.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57200" y="3154680"/>
            <a:ext cx="4023360" cy="1508760"/>
          </a:xfrm>
          <a:prstGeom prst="roundRect">
            <a:avLst>
              <a:gd name="adj" fmla="val 727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Shape 11"/>
          <p:cNvSpPr/>
          <p:nvPr/>
        </p:nvSpPr>
        <p:spPr>
          <a:xfrm>
            <a:off x="685800" y="3429000"/>
            <a:ext cx="658368" cy="658368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3593592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33558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Rossz körzetben került elő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1554480" y="381304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Érvényes eszköz, de másik körzeté – nem dobhatjuk el, rögzíteni kell.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63440" y="3154680"/>
            <a:ext cx="4023360" cy="1508760"/>
          </a:xfrm>
          <a:prstGeom prst="roundRect">
            <a:avLst>
              <a:gd name="adj" fmla="val 727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Shape 15"/>
          <p:cNvSpPr/>
          <p:nvPr/>
        </p:nvSpPr>
        <p:spPr>
          <a:xfrm>
            <a:off x="4892040" y="3429000"/>
            <a:ext cx="658368" cy="658368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6632" y="3593592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60720" y="33558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Hiányzik a hely és a történet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5760720" y="381304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forrásban nincs szobaszám, a régi leltárak eredménye pedig elvész.</a:t>
            </a:r>
            <a:endParaRPr lang="en-US" sz="1250" dirty="0"/>
          </a:p>
        </p:txBody>
      </p:sp>
      <p:sp>
        <p:nvSpPr>
          <p:cNvPr id="24" name="Diaszam"/>
          <p:cNvSpPr txBox="1"/>
          <p:nvPr/>
        </p:nvSpPr>
        <p:spPr>
          <a:xfrm>
            <a:off x="7670800" y="4759452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fld id="{06707D77-1F0F-4298-9FA7-890C7ECCD37D}" type="slidenum">
              <a:rPr lang="hu-HU" sz="1100" smtClean="0">
                <a:solidFill>
                  <a:srgbClr val="5B6B73"/>
                </a:solidFill>
                <a:latin typeface="Calibri" panose="020F0502020204030204" pitchFamily="34" charset="0"/>
              </a:rPr>
              <a:pPr algn="r"/>
              <a:t>2</a:t>
            </a:fld>
            <a:r>
              <a:rPr lang="hu-HU" sz="1100" smtClean="0">
                <a:solidFill>
                  <a:srgbClr val="5B6B73"/>
                </a:solidFill>
                <a:latin typeface="Calibri" panose="020F0502020204030204" pitchFamily="34" charset="0"/>
              </a:rPr>
              <a:t> / 8</a:t>
            </a:r>
            <a:endParaRPr lang="hu-HU" sz="1100">
              <a:solidFill>
                <a:srgbClr val="5B6B73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t</a:t>
            </a:r>
            <a:r>
              <a:rPr lang="hu-HU" sz="2800" b="1" dirty="0" err="1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alál</a:t>
            </a:r>
            <a:r>
              <a:rPr lang="en-US" sz="2800" b="1" dirty="0" err="1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tunk</a:t>
            </a: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hasonló rendszerekből?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 txBox="1"/>
          <p:nvPr/>
        </p:nvSpPr>
        <p:spPr>
          <a:xfrm>
            <a:off x="640080" y="1097280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Snipe-IT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09728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Minden művelet eseménynaplóba kerül; a tartozékokat külön kezeli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GLPI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82880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Teljes módosítástörténet, szervezeti egységenkénti jogosultság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560320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 txBox="1"/>
          <p:nvPr/>
        </p:nvSpPr>
        <p:spPr>
          <a:xfrm>
            <a:off x="640080" y="2560320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5603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Nyilvántartott és megszámolt mennyiség egymás mellett; több vonalkód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 txBox="1"/>
          <p:nvPr/>
        </p:nvSpPr>
        <p:spPr>
          <a:xfrm>
            <a:off x="640080" y="3291840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FI-AA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329184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hely és a költséghely időfüggően tárolva – innen jön az „SAP szám”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 txBox="1"/>
          <p:nvPr/>
        </p:nvSpPr>
        <p:spPr>
          <a:xfrm>
            <a:off x="640080" y="4023360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Sortly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402336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Egyszerű, gyors beolvasó felület és címkegenerálás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0" y="1097280"/>
            <a:ext cx="2560320" cy="3529584"/>
          </a:xfrm>
          <a:prstGeom prst="roundRect">
            <a:avLst>
              <a:gd name="adj" fmla="val 4286"/>
            </a:avLst>
          </a:prstGeom>
          <a:solidFill>
            <a:srgbClr val="12343B"/>
          </a:solidFill>
          <a:ln w="12700">
            <a:solidFill>
              <a:srgbClr val="1234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Shape 17"/>
          <p:cNvSpPr/>
          <p:nvPr/>
        </p:nvSpPr>
        <p:spPr>
          <a:xfrm>
            <a:off x="6355080" y="1325880"/>
            <a:ext cx="594360" cy="5943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670" y="1474470"/>
            <a:ext cx="297180" cy="29718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355080" y="2057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Következtetés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246888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Egyik rendszer sem kezeli egyszerre a helyszíni, körzet- és időszakalapú vonalkódos leltárt és a hosszú távú, történeti eszköznyilvántartást.</a:t>
            </a:r>
            <a:endParaRPr lang="en-US" sz="1300" dirty="0"/>
          </a:p>
        </p:txBody>
      </p:sp>
      <p:sp>
        <p:nvSpPr>
          <p:cNvPr id="23" name="Diaszam"/>
          <p:cNvSpPr txBox="1"/>
          <p:nvPr/>
        </p:nvSpPr>
        <p:spPr>
          <a:xfrm>
            <a:off x="7670800" y="4759452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fld id="{04C929F7-7B52-4611-932A-5676A4714C36}" type="slidenum">
              <a:rPr lang="hu-HU" sz="1100" smtClean="0">
                <a:solidFill>
                  <a:srgbClr val="5B6B73"/>
                </a:solidFill>
                <a:latin typeface="Calibri" panose="020F0502020204030204" pitchFamily="34" charset="0"/>
              </a:rPr>
              <a:pPr algn="r"/>
              <a:t>3</a:t>
            </a:fld>
            <a:r>
              <a:rPr lang="hu-HU" sz="1100" smtClean="0">
                <a:solidFill>
                  <a:srgbClr val="5B6B73"/>
                </a:solidFill>
                <a:latin typeface="Calibri" panose="020F0502020204030204" pitchFamily="34" charset="0"/>
              </a:rPr>
              <a:t> / 8</a:t>
            </a:r>
            <a:endParaRPr lang="hu-HU" sz="1100">
              <a:solidFill>
                <a:srgbClr val="5B6B73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Kik használják, és hogyan?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640080" cy="64008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125730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115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Adminisztrátor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80160" y="14356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Felhasználók, jogosultságok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57200" y="1965960"/>
            <a:ext cx="640080" cy="64008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" y="2125980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1984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Leltárfelelős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2304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Import, időszakok, eltérések, riportok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834640"/>
            <a:ext cx="640080" cy="64008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" y="29946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28529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Leltározó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31729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Helyszíni beolvasás, javítás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457200" y="3703320"/>
            <a:ext cx="640080" cy="64008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" y="386334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3721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Megtekintő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1280160" y="4041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Saját egysége eszközei és riportjai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457200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leltár életciklusa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4773168" y="1645920"/>
            <a:ext cx="0" cy="2834640"/>
          </a:xfrm>
          <a:prstGeom prst="line">
            <a:avLst/>
          </a:prstGeom>
          <a:noFill/>
          <a:ln w="25400">
            <a:solidFill>
              <a:srgbClr val="C9DAD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Shape 15"/>
          <p:cNvSpPr/>
          <p:nvPr/>
        </p:nvSpPr>
        <p:spPr>
          <a:xfrm>
            <a:off x="4572000" y="1463040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16"/>
          <p:cNvSpPr txBox="1"/>
          <p:nvPr/>
        </p:nvSpPr>
        <p:spPr>
          <a:xfrm>
            <a:off x="4572000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120640" y="146304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import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elvárt állomány az adatbázisba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572000" y="2029968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Text 19"/>
          <p:cNvSpPr txBox="1"/>
          <p:nvPr/>
        </p:nvSpPr>
        <p:spPr>
          <a:xfrm>
            <a:off x="4572000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5120640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Leltáridőszak nyitása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pillanatkép az elvárt állományról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0" y="2596896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2"/>
          <p:cNvSpPr txBox="1"/>
          <p:nvPr/>
        </p:nvSpPr>
        <p:spPr>
          <a:xfrm>
            <a:off x="4572000" y="2596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5120640" y="259689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Beolvasás helyiségenként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vonalkód, mennyiség, hely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4572000" y="3163824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25"/>
          <p:cNvSpPr txBox="1"/>
          <p:nvPr/>
        </p:nvSpPr>
        <p:spPr>
          <a:xfrm>
            <a:off x="4572000" y="3163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5120640" y="3163824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Javítás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sztornó, ismeretlen kódok</a:t>
            </a:r>
            <a:endParaRPr lang="en-US" sz="1400" dirty="0"/>
          </a:p>
        </p:txBody>
      </p:sp>
      <p:sp>
        <p:nvSpPr>
          <p:cNvPr id="33" name="Shape 27"/>
          <p:cNvSpPr/>
          <p:nvPr/>
        </p:nvSpPr>
        <p:spPr>
          <a:xfrm>
            <a:off x="4572000" y="3730752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4" name="Text 28"/>
          <p:cNvSpPr txBox="1"/>
          <p:nvPr/>
        </p:nvSpPr>
        <p:spPr>
          <a:xfrm>
            <a:off x="4572000" y="3730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5120640" y="373075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Összehasonlítás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hiány, többlet, más körzet</a:t>
            </a:r>
            <a:endParaRPr lang="en-US" sz="1400" dirty="0"/>
          </a:p>
        </p:txBody>
      </p:sp>
      <p:sp>
        <p:nvSpPr>
          <p:cNvPr id="36" name="Shape 30"/>
          <p:cNvSpPr/>
          <p:nvPr/>
        </p:nvSpPr>
        <p:spPr>
          <a:xfrm>
            <a:off x="4572000" y="4297680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7" name="Text 31"/>
          <p:cNvSpPr txBox="1"/>
          <p:nvPr/>
        </p:nvSpPr>
        <p:spPr>
          <a:xfrm>
            <a:off x="4572000" y="4297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5120640" y="429768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Lezárás és riport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Excel export</a:t>
            </a:r>
            <a:endParaRPr lang="en-US" sz="1400" dirty="0"/>
          </a:p>
        </p:txBody>
      </p:sp>
      <p:sp>
        <p:nvSpPr>
          <p:cNvPr id="39" name="Diaszam"/>
          <p:cNvSpPr txBox="1"/>
          <p:nvPr/>
        </p:nvSpPr>
        <p:spPr>
          <a:xfrm>
            <a:off x="7670800" y="4759452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fld id="{C20DD17C-48D1-437C-A078-D1746BA82DC6}" type="slidenum">
              <a:rPr lang="hu-HU" sz="1100" smtClean="0">
                <a:solidFill>
                  <a:srgbClr val="5B6B73"/>
                </a:solidFill>
                <a:latin typeface="Calibri" panose="020F0502020204030204" pitchFamily="34" charset="0"/>
              </a:rPr>
              <a:pPr algn="r"/>
              <a:t>4</a:t>
            </a:fld>
            <a:r>
              <a:rPr lang="hu-HU" sz="1100" smtClean="0">
                <a:solidFill>
                  <a:srgbClr val="5B6B73"/>
                </a:solidFill>
                <a:latin typeface="Calibri" panose="020F0502020204030204" pitchFamily="34" charset="0"/>
              </a:rPr>
              <a:t> / 8</a:t>
            </a:r>
            <a:endParaRPr lang="hu-HU" sz="1100">
              <a:solidFill>
                <a:srgbClr val="5B6B73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4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történik egy beolvasáskor?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Minden beolvasás esemény – semmit nem dobunk el, semmit nem törlünk.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Beolvasó mező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1F6F7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23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▌4000123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957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Vonalkódolvasó  ·  Ctrl+V  ·  demó mód tesztkódokkal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10" y="3326130"/>
            <a:ext cx="251460" cy="2514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80160" y="3200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Kiegészítők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7947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Fő eszköz beolvasva → </a:t>
            </a:r>
            <a:r>
              <a:rPr lang="en-US" sz="12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feltételezetten megvan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Saját kód beolvasva → </a:t>
            </a:r>
            <a:r>
              <a:rPr lang="en-US" sz="12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közvetlenül ellenőrzött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0" y="1371600"/>
            <a:ext cx="4572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Shape 11"/>
          <p:cNvSpPr/>
          <p:nvPr/>
        </p:nvSpPr>
        <p:spPr>
          <a:xfrm>
            <a:off x="4224528" y="1453896"/>
            <a:ext cx="384048" cy="384048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540" y="1549908"/>
            <a:ext cx="192024" cy="19202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754880" y="137160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MEGTALÁLVA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080760" y="13716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 Latitude 5420  ·  112-es szoba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114800" y="2029968"/>
            <a:ext cx="4572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Shape 15"/>
          <p:cNvSpPr/>
          <p:nvPr/>
        </p:nvSpPr>
        <p:spPr>
          <a:xfrm>
            <a:off x="4224528" y="2112264"/>
            <a:ext cx="384048" cy="384048"/>
          </a:xfrm>
          <a:prstGeom prst="ellipse">
            <a:avLst/>
          </a:prstGeom>
          <a:solidFill>
            <a:srgbClr val="D9A900"/>
          </a:solidFill>
          <a:ln w="12700">
            <a:solidFill>
              <a:srgbClr val="D9A90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540" y="2208276"/>
            <a:ext cx="192024" cy="19202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754880" y="2029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9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KÖRZET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080760" y="202996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Rögzítve, de másik intézet körzetébe tartozik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4114800" y="2688336"/>
            <a:ext cx="4572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Shape 19"/>
          <p:cNvSpPr/>
          <p:nvPr/>
        </p:nvSpPr>
        <p:spPr>
          <a:xfrm>
            <a:off x="4224528" y="2770632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0540" y="2866644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754880" y="2688336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ISMÉTELT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6080760" y="268833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Már beolvasva ma 10:42 – a darabszám nem nő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4114800" y="3346704"/>
            <a:ext cx="4572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9" name="Shape 23"/>
          <p:cNvSpPr/>
          <p:nvPr/>
        </p:nvSpPr>
        <p:spPr>
          <a:xfrm>
            <a:off x="4224528" y="342900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0540" y="3525012"/>
            <a:ext cx="192024" cy="19202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754880" y="3346704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TÖBBLET</a:t>
            </a:r>
            <a:endParaRPr lang="en-US" sz="1150" dirty="0"/>
          </a:p>
        </p:txBody>
      </p:sp>
      <p:sp>
        <p:nvSpPr>
          <p:cNvPr id="32" name="Text 25"/>
          <p:cNvSpPr txBox="1"/>
          <p:nvPr/>
        </p:nvSpPr>
        <p:spPr>
          <a:xfrm>
            <a:off x="6080760" y="334670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Szék: elvárt 30 db  ·  beolvasva 31 db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4114800" y="4005072"/>
            <a:ext cx="4572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4" name="Shape 27"/>
          <p:cNvSpPr/>
          <p:nvPr/>
        </p:nvSpPr>
        <p:spPr>
          <a:xfrm>
            <a:off x="4224528" y="4087368"/>
            <a:ext cx="384048" cy="38404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0540" y="4183380"/>
            <a:ext cx="192024" cy="19202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4754880" y="400507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ISMERETLEN KÓD</a:t>
            </a:r>
            <a:endParaRPr lang="en-US" sz="1150" dirty="0"/>
          </a:p>
        </p:txBody>
      </p:sp>
      <p:sp>
        <p:nvSpPr>
          <p:cNvPr id="37" name="Text 29"/>
          <p:cNvSpPr txBox="1"/>
          <p:nvPr/>
        </p:nvSpPr>
        <p:spPr>
          <a:xfrm>
            <a:off x="6080760" y="400507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Nincs ilyen kód – rögzítve kivizsgálásra</a:t>
            </a:r>
            <a:endParaRPr lang="en-US" sz="1150" dirty="0"/>
          </a:p>
        </p:txBody>
      </p:sp>
      <p:sp>
        <p:nvSpPr>
          <p:cNvPr id="38" name="Diaszam"/>
          <p:cNvSpPr txBox="1"/>
          <p:nvPr/>
        </p:nvSpPr>
        <p:spPr>
          <a:xfrm>
            <a:off x="7670800" y="4759452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fld id="{EC1E9B20-AD8D-4230-BA9A-19A620663DAF}" type="slidenum">
              <a:rPr lang="hu-HU" sz="1100" smtClean="0">
                <a:solidFill>
                  <a:srgbClr val="5B6B73"/>
                </a:solidFill>
                <a:latin typeface="Calibri" panose="020F0502020204030204" pitchFamily="34" charset="0"/>
              </a:rPr>
              <a:pPr algn="r"/>
              <a:t>5</a:t>
            </a:fld>
            <a:r>
              <a:rPr lang="hu-HU" sz="1100" smtClean="0">
                <a:solidFill>
                  <a:srgbClr val="5B6B73"/>
                </a:solidFill>
                <a:latin typeface="Calibri" panose="020F0502020204030204" pitchFamily="34" charset="0"/>
              </a:rPr>
              <a:t> / 8</a:t>
            </a:r>
            <a:endParaRPr lang="hu-HU" sz="1100">
              <a:solidFill>
                <a:srgbClr val="5B6B73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Tervezett funkciók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971800"/>
          </a:xfrm>
          <a:prstGeom prst="roundRect">
            <a:avLst>
              <a:gd name="adj" fmla="val 344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 txBox="1"/>
          <p:nvPr/>
        </p:nvSpPr>
        <p:spPr>
          <a:xfrm>
            <a:off x="640080" y="1143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Kötelező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81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kiírásból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659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import adatbázisba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Vonalkódos leltár, demó mód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Több kód, mennyiség, más körzet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Kiegészítő, helyiség, felelős, típus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Leltár-összehasonlítás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Állapotok, teljes történet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Szűrés, Excel riportok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64408" y="1097280"/>
            <a:ext cx="2651760" cy="2971800"/>
          </a:xfrm>
          <a:prstGeom prst="roundRect">
            <a:avLst>
              <a:gd name="adj" fmla="val 344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Shape 7"/>
          <p:cNvSpPr/>
          <p:nvPr/>
        </p:nvSpPr>
        <p:spPr>
          <a:xfrm>
            <a:off x="3264408" y="109728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F4B53"/>
          </a:solidFill>
          <a:ln w="12700">
            <a:solidFill>
              <a:srgbClr val="1F4B53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 txBox="1"/>
          <p:nvPr/>
        </p:nvSpPr>
        <p:spPr>
          <a:xfrm>
            <a:off x="3447288" y="1143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Életszerű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1481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valós használathoz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19659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napló minden módosításról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Importhiba-riport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Sztornó indoklással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Szín- és hangjelzés beolvasáskor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„+30 db” mennyiségbevitel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Lezárt leltár zárolása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71616" y="1097280"/>
            <a:ext cx="2651760" cy="2971800"/>
          </a:xfrm>
          <a:prstGeom prst="roundRect">
            <a:avLst>
              <a:gd name="adj" fmla="val 344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Shape 12"/>
          <p:cNvSpPr/>
          <p:nvPr/>
        </p:nvSpPr>
        <p:spPr>
          <a:xfrm>
            <a:off x="6071616" y="109728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 txBox="1"/>
          <p:nvPr/>
        </p:nvSpPr>
        <p:spPr>
          <a:xfrm>
            <a:off x="6254496" y="1143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Kiegészítő ötletek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254496" y="1481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jóváhagyásra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19659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leltár szinkronizációval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Valós idejű, több leltározós munka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Címkegenerálás, nyomtatás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Leltárjegyzőkönyv PDF-ben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Anomália- és trendriport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kiegészítő ötletekből 1–2-t a 3. alkalmon javaslunk az oktatónak jóváhagyásra.</a:t>
            </a:r>
            <a:endParaRPr lang="en-US" sz="1300" dirty="0"/>
          </a:p>
        </p:txBody>
      </p:sp>
      <p:sp>
        <p:nvSpPr>
          <p:cNvPr id="19" name="Diaszam"/>
          <p:cNvSpPr txBox="1"/>
          <p:nvPr/>
        </p:nvSpPr>
        <p:spPr>
          <a:xfrm>
            <a:off x="7670800" y="4759452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fld id="{4994DD61-2EAB-4473-9A34-CBE8227D1F11}" type="slidenum">
              <a:rPr lang="hu-HU" sz="1100" smtClean="0">
                <a:solidFill>
                  <a:srgbClr val="5B6B73"/>
                </a:solidFill>
                <a:latin typeface="Calibri" panose="020F0502020204030204" pitchFamily="34" charset="0"/>
              </a:rPr>
              <a:pPr algn="r"/>
              <a:t>6</a:t>
            </a:fld>
            <a:r>
              <a:rPr lang="hu-HU" sz="1100" smtClean="0">
                <a:solidFill>
                  <a:srgbClr val="5B6B73"/>
                </a:solidFill>
                <a:latin typeface="Calibri" panose="020F0502020204030204" pitchFamily="34" charset="0"/>
              </a:rPr>
              <a:t> / 8</a:t>
            </a:r>
            <a:endParaRPr lang="hu-HU" sz="1100">
              <a:solidFill>
                <a:srgbClr val="5B6B73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Első elképzelés: architektúra és adatmodell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194560" cy="1325880"/>
          </a:xfrm>
          <a:prstGeom prst="roundRect">
            <a:avLst>
              <a:gd name="adj" fmla="val 68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640080" y="1216152"/>
            <a:ext cx="457200" cy="45720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30452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07008" y="1216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WPF kliens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7830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GUI, beolvasás-kezelés, megjelenítés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474720" y="1051560"/>
            <a:ext cx="2194560" cy="1325880"/>
          </a:xfrm>
          <a:prstGeom prst="roundRect">
            <a:avLst>
              <a:gd name="adj" fmla="val 6897"/>
            </a:avLst>
          </a:prstGeom>
          <a:solidFill>
            <a:srgbClr val="12343B"/>
          </a:solidFill>
          <a:ln w="12700">
            <a:solidFill>
              <a:srgbClr val="1234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Shape 6"/>
          <p:cNvSpPr/>
          <p:nvPr/>
        </p:nvSpPr>
        <p:spPr>
          <a:xfrm>
            <a:off x="3657600" y="1216152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1900" y="133045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224528" y="1216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17830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Üzleti logika, jogosultság, import/export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492240" y="1051560"/>
            <a:ext cx="2194560" cy="1325880"/>
          </a:xfrm>
          <a:prstGeom prst="roundRect">
            <a:avLst>
              <a:gd name="adj" fmla="val 68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Shape 10"/>
          <p:cNvSpPr/>
          <p:nvPr/>
        </p:nvSpPr>
        <p:spPr>
          <a:xfrm>
            <a:off x="6675120" y="1216152"/>
            <a:ext cx="457200" cy="45720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9420" y="1330452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242048" y="1216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Adatbázis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675120" y="17830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Elvárt állomány és leltáreredmény külön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2761488" y="1719072"/>
            <a:ext cx="603504" cy="0"/>
          </a:xfrm>
          <a:prstGeom prst="line">
            <a:avLst/>
          </a:prstGeom>
          <a:noFill/>
          <a:ln w="25400">
            <a:solidFill>
              <a:srgbClr val="1F6F78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4"/>
          <p:cNvSpPr txBox="1"/>
          <p:nvPr/>
        </p:nvSpPr>
        <p:spPr>
          <a:xfrm>
            <a:off x="2651760" y="1097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5779008" y="1719072"/>
            <a:ext cx="603504" cy="0"/>
          </a:xfrm>
          <a:prstGeom prst="line">
            <a:avLst/>
          </a:prstGeom>
          <a:noFill/>
          <a:ln w="25400">
            <a:solidFill>
              <a:srgbClr val="1F6F78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6"/>
          <p:cNvSpPr txBox="1"/>
          <p:nvPr/>
        </p:nvSpPr>
        <p:spPr>
          <a:xfrm>
            <a:off x="5669280" y="1097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adatelérés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adatmodell négy területe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457200" y="297180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19"/>
          <p:cNvSpPr txBox="1"/>
          <p:nvPr/>
        </p:nvSpPr>
        <p:spPr>
          <a:xfrm>
            <a:off x="594360" y="30449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Törzsadat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594360" y="338328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Eszköz, Kód, Kódtípus, Eszköztípus, Körzet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2560320" y="297180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7" name="Text 22"/>
          <p:cNvSpPr txBox="1"/>
          <p:nvPr/>
        </p:nvSpPr>
        <p:spPr>
          <a:xfrm>
            <a:off x="2697480" y="30449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Leltározás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2697480" y="338328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Időszak, Elvárt tétel, Leolvasás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4663440" y="297180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0" name="Text 25"/>
          <p:cNvSpPr txBox="1"/>
          <p:nvPr/>
        </p:nvSpPr>
        <p:spPr>
          <a:xfrm>
            <a:off x="4800600" y="30449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Történet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4800600" y="338328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Elhelyezés, Felelős, Állapotváltozás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766560" y="297180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3" name="Text 28"/>
          <p:cNvSpPr txBox="1"/>
          <p:nvPr/>
        </p:nvSpPr>
        <p:spPr>
          <a:xfrm>
            <a:off x="6903720" y="30449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6903720" y="338328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Felhasználó, Import, Audit napló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457200" y="42245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Választott technológia: </a:t>
            </a: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WPF kliens + ASP.NET Core </a:t>
            </a:r>
            <a:r>
              <a:rPr lang="en-US" sz="1150" dirty="0" err="1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szerver</a:t>
            </a: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adatbázis és kommunikációs protokoll: döntés a 3. alkalomig</a:t>
            </a:r>
            <a:endParaRPr lang="en-US" sz="1150" dirty="0"/>
          </a:p>
        </p:txBody>
      </p:sp>
      <p:sp>
        <p:nvSpPr>
          <p:cNvPr id="36" name="Diaszam"/>
          <p:cNvSpPr txBox="1"/>
          <p:nvPr/>
        </p:nvSpPr>
        <p:spPr>
          <a:xfrm>
            <a:off x="7670800" y="4759452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fld id="{F464BC06-61D9-4571-A63C-9705F968ACC8}" type="slidenum">
              <a:rPr lang="hu-HU" sz="1100" smtClean="0">
                <a:solidFill>
                  <a:srgbClr val="5B6B73"/>
                </a:solidFill>
                <a:latin typeface="Calibri" panose="020F0502020204030204" pitchFamily="34" charset="0"/>
              </a:rPr>
              <a:pPr algn="r"/>
              <a:t>7</a:t>
            </a:fld>
            <a:r>
              <a:rPr lang="hu-HU" sz="1100" smtClean="0">
                <a:solidFill>
                  <a:srgbClr val="5B6B73"/>
                </a:solidFill>
                <a:latin typeface="Calibri" panose="020F0502020204030204" pitchFamily="34" charset="0"/>
              </a:rPr>
              <a:t> / 8</a:t>
            </a:r>
            <a:endParaRPr lang="hu-HU" sz="1100">
              <a:solidFill>
                <a:srgbClr val="5B6B73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3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Munkamegosztá</a:t>
            </a:r>
            <a:r>
              <a:rPr lang="hu-HU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800" dirty="0"/>
          </a:p>
        </p:txBody>
      </p:sp>
      <p:grpSp>
        <p:nvGrpSpPr>
          <p:cNvPr id="27" name="Csoportba foglalás 26">
            <a:extLst>
              <a:ext uri="{FF2B5EF4-FFF2-40B4-BE49-F238E27FC236}">
                <a16:creationId xmlns:a16="http://schemas.microsoft.com/office/drawing/2014/main" id="{185B1359-36B8-8B4C-9171-03D1CF9144EB}"/>
              </a:ext>
            </a:extLst>
          </p:cNvPr>
          <p:cNvGrpSpPr/>
          <p:nvPr/>
        </p:nvGrpSpPr>
        <p:grpSpPr>
          <a:xfrm>
            <a:off x="1842516" y="1156716"/>
            <a:ext cx="5458968" cy="1463040"/>
            <a:chOff x="457200" y="1051560"/>
            <a:chExt cx="5458968" cy="1463040"/>
          </a:xfrm>
        </p:grpSpPr>
        <p:grpSp>
          <p:nvGrpSpPr>
            <p:cNvPr id="26" name="Csoportba foglalás 25">
              <a:extLst>
                <a:ext uri="{FF2B5EF4-FFF2-40B4-BE49-F238E27FC236}">
                  <a16:creationId xmlns:a16="http://schemas.microsoft.com/office/drawing/2014/main" id="{25912050-BB30-C2B2-8B80-12811476F1A6}"/>
                </a:ext>
              </a:extLst>
            </p:cNvPr>
            <p:cNvGrpSpPr/>
            <p:nvPr/>
          </p:nvGrpSpPr>
          <p:grpSpPr>
            <a:xfrm>
              <a:off x="457200" y="1051560"/>
              <a:ext cx="2651760" cy="1463040"/>
              <a:chOff x="457200" y="1051560"/>
              <a:chExt cx="2651760" cy="1463040"/>
            </a:xfrm>
          </p:grpSpPr>
          <p:sp>
            <p:nvSpPr>
              <p:cNvPr id="3" name="Shape 1"/>
              <p:cNvSpPr/>
              <p:nvPr/>
            </p:nvSpPr>
            <p:spPr>
              <a:xfrm>
                <a:off x="457200" y="1051560"/>
                <a:ext cx="2651760" cy="1463040"/>
              </a:xfrm>
              <a:prstGeom prst="roundRect">
                <a:avLst>
                  <a:gd name="adj" fmla="val 6250"/>
                </a:avLst>
              </a:prstGeom>
              <a:solidFill>
                <a:srgbClr val="1F4B53"/>
              </a:solidFill>
              <a:ln w="12700">
                <a:solidFill>
                  <a:srgbClr val="1F4B53"/>
                </a:solidFill>
                <a:prstDash val="solid"/>
              </a:ln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" name="Shape 2"/>
              <p:cNvSpPr/>
              <p:nvPr/>
            </p:nvSpPr>
            <p:spPr>
              <a:xfrm>
                <a:off x="640080" y="1207008"/>
                <a:ext cx="457200" cy="457200"/>
              </a:xfrm>
              <a:prstGeom prst="ellipse">
                <a:avLst/>
              </a:prstGeom>
              <a:solidFill>
                <a:srgbClr val="F2A541"/>
              </a:solidFill>
              <a:ln w="12700">
                <a:solidFill>
                  <a:srgbClr val="F2A541"/>
                </a:solidFill>
                <a:prstDash val="solid"/>
              </a:ln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5" name="Text 3"/>
              <p:cNvSpPr txBox="1"/>
              <p:nvPr/>
            </p:nvSpPr>
            <p:spPr>
              <a:xfrm>
                <a:off x="640080" y="1207008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600" b="1" dirty="0">
                    <a:solidFill>
                      <a:srgbClr val="1234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</a:t>
                </a:r>
                <a:endParaRPr lang="en-US" sz="1600" dirty="0"/>
              </a:p>
            </p:txBody>
          </p:sp>
          <p:sp>
            <p:nvSpPr>
              <p:cNvPr id="6" name="Text 4"/>
              <p:cNvSpPr txBox="1"/>
              <p:nvPr/>
            </p:nvSpPr>
            <p:spPr>
              <a:xfrm>
                <a:off x="1207008" y="1207008"/>
                <a:ext cx="18288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350" b="1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Kliens és UX</a:t>
                </a:r>
                <a:endParaRPr lang="en-US" sz="1350" dirty="0"/>
              </a:p>
            </p:txBody>
          </p:sp>
          <p:sp>
            <p:nvSpPr>
              <p:cNvPr id="7" name="Text 5"/>
              <p:cNvSpPr txBox="1"/>
              <p:nvPr/>
            </p:nvSpPr>
            <p:spPr>
              <a:xfrm>
                <a:off x="640080" y="1755648"/>
                <a:ext cx="2286000" cy="2743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n-US" sz="1300">
                    <a:solidFill>
                      <a:srgbClr val="F2A54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Bárkányi Máté</a:t>
                </a:r>
                <a:endParaRPr lang="en-US" sz="1300" dirty="0"/>
              </a:p>
            </p:txBody>
          </p:sp>
          <p:sp>
            <p:nvSpPr>
              <p:cNvPr id="8" name="Text 6"/>
              <p:cNvSpPr txBox="1"/>
              <p:nvPr/>
            </p:nvSpPr>
            <p:spPr>
              <a:xfrm>
                <a:off x="640080" y="2048256"/>
                <a:ext cx="233172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n-US" sz="1150" dirty="0">
                    <a:solidFill>
                      <a:srgbClr val="C9DAD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GUI, </a:t>
                </a:r>
                <a:r>
                  <a:rPr lang="en-US" sz="1150" dirty="0" err="1">
                    <a:solidFill>
                      <a:srgbClr val="C9DAD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leltározó</a:t>
                </a:r>
                <a:r>
                  <a:rPr lang="en-US" sz="1150" dirty="0">
                    <a:solidFill>
                      <a:srgbClr val="C9DAD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1150" dirty="0" err="1">
                    <a:solidFill>
                      <a:srgbClr val="C9DAD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képernyő</a:t>
                </a:r>
                <a:r>
                  <a:rPr lang="en-US" sz="1150" dirty="0">
                    <a:solidFill>
                      <a:srgbClr val="C9DAD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:r>
                  <a:rPr lang="en-US" sz="1150" dirty="0" err="1">
                    <a:solidFill>
                      <a:srgbClr val="C9DAD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demó</a:t>
                </a:r>
                <a:r>
                  <a:rPr lang="en-US" sz="1150" dirty="0">
                    <a:solidFill>
                      <a:srgbClr val="C9DAD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1150" dirty="0" err="1">
                    <a:solidFill>
                      <a:srgbClr val="C9DAD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mód</a:t>
                </a:r>
                <a:endParaRPr lang="en-US" sz="1150" dirty="0"/>
              </a:p>
            </p:txBody>
          </p:sp>
        </p:grp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45BA6C1D-A58D-281B-1E5B-EF21F2610F4A}"/>
                </a:ext>
              </a:extLst>
            </p:cNvPr>
            <p:cNvGrpSpPr/>
            <p:nvPr/>
          </p:nvGrpSpPr>
          <p:grpSpPr>
            <a:xfrm>
              <a:off x="3264408" y="1051560"/>
              <a:ext cx="2651760" cy="1463040"/>
              <a:chOff x="3264408" y="1051560"/>
              <a:chExt cx="2651760" cy="1463040"/>
            </a:xfrm>
          </p:grpSpPr>
          <p:sp>
            <p:nvSpPr>
              <p:cNvPr id="9" name="Shape 7"/>
              <p:cNvSpPr/>
              <p:nvPr/>
            </p:nvSpPr>
            <p:spPr>
              <a:xfrm>
                <a:off x="3264408" y="1051560"/>
                <a:ext cx="2651760" cy="1463040"/>
              </a:xfrm>
              <a:prstGeom prst="roundRect">
                <a:avLst>
                  <a:gd name="adj" fmla="val 6250"/>
                </a:avLst>
              </a:prstGeom>
              <a:solidFill>
                <a:srgbClr val="1F4B53"/>
              </a:solidFill>
              <a:ln w="12700">
                <a:solidFill>
                  <a:srgbClr val="1F4B53"/>
                </a:solidFill>
                <a:prstDash val="solid"/>
              </a:ln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0" name="Shape 8"/>
              <p:cNvSpPr/>
              <p:nvPr/>
            </p:nvSpPr>
            <p:spPr>
              <a:xfrm>
                <a:off x="3447288" y="1207008"/>
                <a:ext cx="457200" cy="457200"/>
              </a:xfrm>
              <a:prstGeom prst="ellipse">
                <a:avLst/>
              </a:prstGeom>
              <a:solidFill>
                <a:srgbClr val="F2A541"/>
              </a:solidFill>
              <a:ln w="12700">
                <a:solidFill>
                  <a:srgbClr val="F2A541"/>
                </a:solidFill>
                <a:prstDash val="solid"/>
              </a:ln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1" name="Text 9"/>
              <p:cNvSpPr txBox="1"/>
              <p:nvPr/>
            </p:nvSpPr>
            <p:spPr>
              <a:xfrm>
                <a:off x="3447288" y="1207008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600" b="1" dirty="0">
                    <a:solidFill>
                      <a:srgbClr val="1234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B</a:t>
                </a:r>
                <a:endParaRPr lang="en-US" sz="1600" dirty="0"/>
              </a:p>
            </p:txBody>
          </p:sp>
          <p:sp>
            <p:nvSpPr>
              <p:cNvPr id="12" name="Text 10"/>
              <p:cNvSpPr txBox="1"/>
              <p:nvPr/>
            </p:nvSpPr>
            <p:spPr>
              <a:xfrm>
                <a:off x="4014216" y="1207008"/>
                <a:ext cx="18288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350" b="1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Szerver és üzleti logika</a:t>
                </a:r>
                <a:endParaRPr lang="en-US" sz="1350" dirty="0"/>
              </a:p>
            </p:txBody>
          </p:sp>
          <p:sp>
            <p:nvSpPr>
              <p:cNvPr id="13" name="Text 11"/>
              <p:cNvSpPr txBox="1"/>
              <p:nvPr/>
            </p:nvSpPr>
            <p:spPr>
              <a:xfrm>
                <a:off x="3447288" y="1755648"/>
                <a:ext cx="2286000" cy="2743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n-US" sz="1300">
                    <a:solidFill>
                      <a:srgbClr val="F2A54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Horváth Máté</a:t>
                </a:r>
                <a:endParaRPr lang="en-US" sz="1300" dirty="0"/>
              </a:p>
            </p:txBody>
          </p:sp>
          <p:sp>
            <p:nvSpPr>
              <p:cNvPr id="14" name="Text 12"/>
              <p:cNvSpPr txBox="1"/>
              <p:nvPr/>
            </p:nvSpPr>
            <p:spPr>
              <a:xfrm>
                <a:off x="3447288" y="2048256"/>
                <a:ext cx="233172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n-US" sz="1150" dirty="0">
                    <a:solidFill>
                      <a:srgbClr val="C9DAD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Architektúra, API, leltárlogika</a:t>
                </a:r>
                <a:endParaRPr lang="en-US" sz="1150" dirty="0"/>
              </a:p>
            </p:txBody>
          </p:sp>
        </p:grpSp>
      </p:grpSp>
      <p:grpSp>
        <p:nvGrpSpPr>
          <p:cNvPr id="24" name="Csoportba foglalás 23">
            <a:extLst>
              <a:ext uri="{FF2B5EF4-FFF2-40B4-BE49-F238E27FC236}">
                <a16:creationId xmlns:a16="http://schemas.microsoft.com/office/drawing/2014/main" id="{338998FE-1C1A-E816-DDA1-1593B0542C03}"/>
              </a:ext>
            </a:extLst>
          </p:cNvPr>
          <p:cNvGrpSpPr/>
          <p:nvPr/>
        </p:nvGrpSpPr>
        <p:grpSpPr>
          <a:xfrm>
            <a:off x="3246120" y="2714293"/>
            <a:ext cx="2651760" cy="1463040"/>
            <a:chOff x="6071616" y="1051560"/>
            <a:chExt cx="2651760" cy="1463040"/>
          </a:xfrm>
        </p:grpSpPr>
        <p:sp>
          <p:nvSpPr>
            <p:cNvPr id="15" name="Shape 13"/>
            <p:cNvSpPr/>
            <p:nvPr/>
          </p:nvSpPr>
          <p:spPr>
            <a:xfrm>
              <a:off x="6071616" y="1051560"/>
              <a:ext cx="2651760" cy="1463040"/>
            </a:xfrm>
            <a:prstGeom prst="roundRect">
              <a:avLst>
                <a:gd name="adj" fmla="val 6250"/>
              </a:avLst>
            </a:prstGeom>
            <a:solidFill>
              <a:srgbClr val="1F4B53"/>
            </a:solidFill>
            <a:ln w="12700">
              <a:solidFill>
                <a:srgbClr val="1F4B53"/>
              </a:solidFill>
              <a:prstDash val="solid"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6" name="Shape 14"/>
            <p:cNvSpPr/>
            <p:nvPr/>
          </p:nvSpPr>
          <p:spPr>
            <a:xfrm>
              <a:off x="6254496" y="1207008"/>
              <a:ext cx="457200" cy="457200"/>
            </a:xfrm>
            <a:prstGeom prst="ellipse">
              <a:avLst/>
            </a:prstGeom>
            <a:solidFill>
              <a:srgbClr val="F2A541"/>
            </a:solidFill>
            <a:ln w="12700">
              <a:solidFill>
                <a:srgbClr val="F2A541"/>
              </a:solidFill>
              <a:prstDash val="solid"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6254496" y="1207008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234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</a:t>
              </a:r>
              <a:endParaRPr lang="en-US" sz="1600" dirty="0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6821424" y="1207008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Adat és minőség</a:t>
              </a:r>
              <a:endParaRPr lang="en-US" sz="1350" dirty="0"/>
            </a:p>
          </p:txBody>
        </p:sp>
        <p:sp>
          <p:nvSpPr>
            <p:cNvPr id="19" name="Text 17"/>
            <p:cNvSpPr txBox="1"/>
            <p:nvPr/>
          </p:nvSpPr>
          <p:spPr>
            <a:xfrm>
              <a:off x="6254496" y="1755648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300">
                  <a:solidFill>
                    <a:srgbClr val="F2A54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Kiss Barnabás</a:t>
              </a:r>
              <a:endParaRPr lang="en-US" sz="1300" dirty="0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6254496" y="2048256"/>
              <a:ext cx="2331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C9DAD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Adatmodell, import/export, tesztelés</a:t>
              </a:r>
              <a:endParaRPr lang="en-US" sz="1150" dirty="0"/>
            </a:p>
          </p:txBody>
        </p:sp>
      </p:grpSp>
      <p:sp>
        <p:nvSpPr>
          <p:cNvPr id="21" name="Diaszam"/>
          <p:cNvSpPr txBox="1"/>
          <p:nvPr/>
        </p:nvSpPr>
        <p:spPr>
          <a:xfrm>
            <a:off x="7670800" y="4759452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fld id="{02C11A0F-8F27-48E7-AD77-FD4F3794AB13}" type="slidenum">
              <a:rPr lang="hu-HU" sz="1100" smtClean="0">
                <a:solidFill>
                  <a:srgbClr val="C9DADD"/>
                </a:solidFill>
                <a:latin typeface="Calibri" panose="020F0502020204030204" pitchFamily="34" charset="0"/>
              </a:rPr>
              <a:pPr algn="r"/>
              <a:t>8</a:t>
            </a:fld>
            <a:r>
              <a:rPr lang="hu-HU" sz="1100" smtClean="0">
                <a:solidFill>
                  <a:srgbClr val="C9DADD"/>
                </a:solidFill>
                <a:latin typeface="Calibri" panose="020F0502020204030204" pitchFamily="34" charset="0"/>
              </a:rPr>
              <a:t> / 8</a:t>
            </a:r>
            <a:endParaRPr lang="hu-HU" sz="1100">
              <a:solidFill>
                <a:srgbClr val="C9DADD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1159</Words>
  <Application>Microsoft Office PowerPoint</Application>
  <PresentationFormat>Diavetítés a képernyőre (16:9 oldalarány)</PresentationFormat>
  <Paragraphs>151</Paragraphs>
  <Slides>8</Slides>
  <Notes>8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2" baseType="lpstr">
      <vt:lpstr>Arial</vt:lpstr>
      <vt:lpstr>Calibri</vt:lpstr>
      <vt:lpstr>Courier New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Leltárkezelő rendszer – 2. alkalom</dc:title>
  <dc:subject>PptxGenJS Presentation</dc:subject>
  <dc:creator>PptxGenJS</dc:creator>
  <cp:lastModifiedBy>Home</cp:lastModifiedBy>
  <cp:revision>10</cp:revision>
  <dcterms:created xsi:type="dcterms:W3CDTF">2026-09-14T16:06:12Z</dcterms:created>
  <dcterms:modified xsi:type="dcterms:W3CDTF">2026-09-22T12:17:21Z</dcterms:modified>
</cp:coreProperties>
</file>