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8428" autoAdjust="0"/>
  </p:normalViewPr>
  <p:slideViewPr>
    <p:cSldViewPr snapToGrid="0" snapToObjects="1">
      <p:cViewPr varScale="1">
        <p:scale>
          <a:sx n="129" d="100"/>
          <a:sy n="129" d="100"/>
        </p:scale>
        <p:origin x="11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2343B"/>
                </a:solidFill>
                <a:latin typeface="Calibri"/>
              </a:defRPr>
            </a:pPr>
            <a:r>
              <a:rPr lang="hu-HU" sz="1200" b="0" i="0" u="none" strike="noStrike">
                <a:solidFill>
                  <a:srgbClr val="12343B"/>
                </a:solidFill>
                <a:latin typeface="Calibri"/>
              </a:rPr>
              <a:t>A 2025. évi demóleltár összehasonlítása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Tételek</c:v>
                </c:pt>
              </c:strCache>
            </c:strRef>
          </c:tx>
          <c:spPr>
            <a:solidFill>
              <a:srgbClr val="1F6F7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A30"/>
                    </a:solidFill>
                    <a:latin typeface="Arial"/>
                  </a:defRPr>
                </a:pPr>
                <a:endParaRPr lang="hu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Megtalált</c:v>
                </c:pt>
                <c:pt idx="1">
                  <c:v>Részben</c:v>
                </c:pt>
                <c:pt idx="2">
                  <c:v>Hiányzó</c:v>
                </c:pt>
                <c:pt idx="3">
                  <c:v>Többlet</c:v>
                </c:pt>
                <c:pt idx="4">
                  <c:v>Más körzetből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177</c:v>
                </c:pt>
                <c:pt idx="1">
                  <c:v>17</c:v>
                </c:pt>
                <c:pt idx="2">
                  <c:v>26</c:v>
                </c:pt>
                <c:pt idx="3">
                  <c:v>8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DC-447A-B16E-48D6B1988EE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A30"/>
                </a:solidFill>
                <a:latin typeface="Calibri"/>
              </a:defRPr>
            </a:pPr>
            <a:endParaRPr lang="hu-H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5231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~20 mp – Bárkányi Máté. Bemutatkozás: Bárkányi Máté, Horváth Máté és Kiss Barnabás; a leltározó és leltárkezelő alkalmazást fejlesztjük. Ma a teljes projektet mutatjuk be az alapoktól, a hangsúly a 4. alkalomra elkészült prototípuson van: szerver, adatbázis és tesztadatok.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mp – Bárkányi Máté. A leltár célja: a nyilvántartásban lévő eszközök fizikailag is megvannak-e. Négy fő nehézség: több kód egy eszközön, mennyiséges tételek, más körzetben előkerülő eszközök, valamint a hely és a korábbi eredmények hiánya. Ezért nem elég egy Excel-tábla.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mp – Horváth Máté. Öt meglévő rendszert vizsgáltunk; mindegyikből tanultunk (eseménynapló, időfüggő helyadat, elvárt és megszámolt mennyiség egymás mellett), de egyik sem fedi le a teljes feladatot. Ami nálunk új: egységes folyamat, reprodukálható leltáreredmény a pillanatkép miatt, valósághű azonosítás, a kiegészítők ellenőrzésének követése és a teljes történetiség.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mp – Bárkányi Máté. Négy szerepkör a valós leltározási folyamat alapján; a leltározó csak a számára kijelölt körzetekben dolgozhat – ez a jogosultság már az adatbázisban is megvan. Jobb oldalon a leltár életciklusa az importtól a lezárásig és a riportig.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~50 mp – Bárkányi Máté. Ez a rendszer szíve. Az olvasó billentyűzetként ír a mezőbe; olvasó nélkül kamerával, beillesztéssel vagy demó móddal is működik. A szerver minősíti a beolvasást – megtalálva, más körzet, ismételt, többlet, ismeretlen –, mindegyik rögzül, javítani csak sztornóval lehet. Az ismételt beolvasás nem növeli a darabszámot. Ezek a szabályok már az adatbázisban is megvannak.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mp – Horváth Máté. Három futó komponens: WPF kliens, ASP.NET Core szerver és SQL Server. A kliens HTTPS-en, REST-stílusban, JSON-nal kommunikál, a kéréseket JWT token azonosítja. A szerver rétegzett: vékony controllerek, a logika szolgáltatásokban, az adatelérés EF Core-ral. A közös Kozos projekt a kettő szerződése. Az elv: vékony kliens, okos szerver – ennek okai a dián.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mp – Kiss Barnabás. Az adatmodell négy területre bomlik. A legfontosabb elv, hogy az elvárt állomány és a leltáreredmény külön van: a leltár nyitásakor pillanatkép készül, így egy régi leltár akkor is reprodukálható, ha a forrásadatok azóta változtak. A kódok normalizált értéke egyedi, a leolvasás esemény, a hely és a felelős érvényességi időszakkal tárolódik. A szabályokat az adatbázis is kikényszeríti: 21 megszorítás és 6 szűrt 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mp – Horváth Máté. A szerver prototípusa öt végponttal működik. Bejelentkezéskor a szerver ellenőrzi a jelszó hash-ét, és 8 órás tokent ad; minden más végpont csak tokennel érhető el. A hibák egységes, szabványos formátumban jönnek vissza, a titkos beállítások nincsenek a repóban. 13 automatikus teszt fut a valódi HTTP-csővezetéken. Élő demó: Swaggerben bejelentkezés egy demó felhasználóval, majd eszközkeresés.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~60 mp – Kiss Barnabás. Az első migráció az adatmodell mind a 23 tábláját létrehozza a kezdeti adatokkal együtt. A demóadatokat egy SQL-szkript tölti be: 240 eszköz 689 kóddal, helyiségek, felelősök, egy lezárt és egy folyamatban lévő leltár. A szkript determinisztikus, minden futtatás ugyanazt adja. Egy ellenőrző szkript 12 szándékosan hibás műveletet próbál ki – az adatbázis mindet a várt módon kezeli. A diagram a lezárt leltár összehasonlítását mutatja: minden kategória előállítható.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mp – Kiss Barnabás. A GitHub Actions minden pushnál és pull requestnél lefordítja a teljes megoldást Windowson (a WPF miatt), és lefuttatja a 34 tesztet. Az adatmodell-tesztek adatbázis nélkül futnak, és azt is ellenőrzik, hogy nem maradt-e ki migráció – ezt szándékos hibával ki is próbáltuk. A valódi SQL Serveren a megszorításokat az ellenőrző szkript igazolja.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mp – Bárkányi Máté. [KITÖLTENDŐ: a drótvázak vagy az első WPF-nézet bemutatása, a stíluskönyvtár választása, és hogy a kliens hogyan hívja a szerver végpontjait a közös Kozos projekten keresztül.]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 mp – </a:t>
            </a:r>
            <a:r>
              <a:rPr lang="hu-HU" dirty="0"/>
              <a:t>Bárkányi Máté</a:t>
            </a:r>
            <a:r>
              <a:rPr lang="en-US" dirty="0"/>
              <a:t>. Kiegészítő funkciónak egy zárt kört javasolunk: a rendszer vonalkódcímkét nyomtat a hiányzó címkék helyett, a címke kamerával is beolvasható – így olvasó nélkül is lehet leltározni –, a leltár végén pedig hivatalos PDF-jegyzőkönyv készül. A könyvtárakat is kiválasztottuk. Az adatbázisban már előkészítettük: a beolvasás módjai között ott a kamera.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~40 mp – mindhárman egy-egy mondatban. Bárkányi Máté: kliens és felhasználói élmény. Horváth Máté: szerver, hitelesítés, API. Kiss Barnabás: adatmodell, adatbázis, tesztadatok, minőség és CI. Az 5. alkalomig: Excel import, import- és törzsadat-végpontok, szerepkör szerinti jogosultság, a WPF kliensben bejelentkezés, eszközlista és import képernyő, valamint a leltározási folyamat terve. Köszönjük, várjuk a kérdéseket.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LABOR  ·  4. ALKALOM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Leltárkezelő rendszer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Vonalkódos leltározás és hosszú távú eszköznyilvántartás egyetemi környezetben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926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Prototípus és proof of concept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Bárkányi Máté  ·  Horváth Máté  ·  Kiss Barnabás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89320" y="1143000"/>
            <a:ext cx="6217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6"/>
          <p:cNvSpPr/>
          <p:nvPr/>
        </p:nvSpPr>
        <p:spPr>
          <a:xfrm>
            <a:off x="6082589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7"/>
          <p:cNvSpPr/>
          <p:nvPr/>
        </p:nvSpPr>
        <p:spPr>
          <a:xfrm>
            <a:off x="6206947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8"/>
          <p:cNvSpPr/>
          <p:nvPr/>
        </p:nvSpPr>
        <p:spPr>
          <a:xfrm>
            <a:off x="6300216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9"/>
          <p:cNvSpPr/>
          <p:nvPr/>
        </p:nvSpPr>
        <p:spPr>
          <a:xfrm>
            <a:off x="6362395" y="1143000"/>
            <a:ext cx="6217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Shape 10"/>
          <p:cNvSpPr/>
          <p:nvPr/>
        </p:nvSpPr>
        <p:spPr>
          <a:xfrm>
            <a:off x="6517843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Shape 11"/>
          <p:cNvSpPr/>
          <p:nvPr/>
        </p:nvSpPr>
        <p:spPr>
          <a:xfrm>
            <a:off x="6580022" y="1143000"/>
            <a:ext cx="6217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2"/>
          <p:cNvSpPr/>
          <p:nvPr/>
        </p:nvSpPr>
        <p:spPr>
          <a:xfrm>
            <a:off x="6673291" y="1143000"/>
            <a:ext cx="9326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3"/>
          <p:cNvSpPr/>
          <p:nvPr/>
        </p:nvSpPr>
        <p:spPr>
          <a:xfrm>
            <a:off x="6797650" y="1143000"/>
            <a:ext cx="6217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Shape 14"/>
          <p:cNvSpPr/>
          <p:nvPr/>
        </p:nvSpPr>
        <p:spPr>
          <a:xfrm>
            <a:off x="6922008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Shape 15"/>
          <p:cNvSpPr/>
          <p:nvPr/>
        </p:nvSpPr>
        <p:spPr>
          <a:xfrm>
            <a:off x="6984187" y="1143000"/>
            <a:ext cx="9326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6"/>
          <p:cNvSpPr/>
          <p:nvPr/>
        </p:nvSpPr>
        <p:spPr>
          <a:xfrm>
            <a:off x="7108546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7"/>
          <p:cNvSpPr/>
          <p:nvPr/>
        </p:nvSpPr>
        <p:spPr>
          <a:xfrm>
            <a:off x="7201814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Shape 18"/>
          <p:cNvSpPr/>
          <p:nvPr/>
        </p:nvSpPr>
        <p:spPr>
          <a:xfrm>
            <a:off x="7295083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Shape 19"/>
          <p:cNvSpPr/>
          <p:nvPr/>
        </p:nvSpPr>
        <p:spPr>
          <a:xfrm>
            <a:off x="7419442" y="1143000"/>
            <a:ext cx="3109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Shape 20"/>
          <p:cNvSpPr/>
          <p:nvPr/>
        </p:nvSpPr>
        <p:spPr>
          <a:xfrm>
            <a:off x="7481621" y="1143000"/>
            <a:ext cx="62179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21"/>
          <p:cNvSpPr txBox="1"/>
          <p:nvPr/>
        </p:nvSpPr>
        <p:spPr>
          <a:xfrm>
            <a:off x="5897880" y="33832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9DA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SAP 40000123  ·  L-2021-0123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715000" y="2176272"/>
            <a:ext cx="2926080" cy="45720"/>
          </a:xfrm>
          <a:prstGeom prst="rect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nehéz egy egyetemi leltár?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elvárt állomány egy Excel exportban él – a valóság a termekben és a folyosókon.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640080" cy="64008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18516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18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eszköz – több kód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0756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szám, leltári szám, gyári szám: az eszközön bármelyik lehet.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4173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Shape 7"/>
          <p:cNvSpPr/>
          <p:nvPr/>
        </p:nvSpPr>
        <p:spPr>
          <a:xfrm>
            <a:off x="4892040" y="1691640"/>
            <a:ext cx="640080" cy="64008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18516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760720" y="16184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szék – egy rekord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5760720" y="207568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elég a „megvan / nincs meg”: darabszám, hiány és többlet kell.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06324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Shape 11"/>
          <p:cNvSpPr/>
          <p:nvPr/>
        </p:nvSpPr>
        <p:spPr>
          <a:xfrm>
            <a:off x="685800" y="3337560"/>
            <a:ext cx="640080" cy="64008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20" y="34975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264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Rossz körzetben került elő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372160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Érvényes eszköz, de másik körzeté – nem dobhatjuk el, rögzíteni kell.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663440" y="306324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Shape 15"/>
          <p:cNvSpPr/>
          <p:nvPr/>
        </p:nvSpPr>
        <p:spPr>
          <a:xfrm>
            <a:off x="4892040" y="3337560"/>
            <a:ext cx="640080" cy="64008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2060" y="34975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760720" y="32644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Hiányzik a hely és a történet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5760720" y="372160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forrásban nincs szobaszám, a régi leltárak eredménye pedig elvész.</a:t>
            </a:r>
            <a:endParaRPr lang="en-US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ad hozzá a rendszerünk?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502920" cy="50292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" y="1223010"/>
            <a:ext cx="251460" cy="2514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43000" y="105156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Egységes folyamat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143000" y="13624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Helyszíni leltározás és nyilvántartás egy rendszerben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502920" cy="50292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30" y="195453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178308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Reprodukálható leltár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143000" y="20939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Pillanatkép az elvárt állományról a leltár nyitásakor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57200" y="2560320"/>
            <a:ext cx="502920" cy="50292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30" y="2686050"/>
            <a:ext cx="251460" cy="2514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143000" y="251460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Valósághű azonosítás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143000" y="282549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Bármely kód, darabszámok, más körzet, ismeretlen kód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291840"/>
            <a:ext cx="502920" cy="50292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" y="3417570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43000" y="324612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Kiegészítők ellenőrzése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143000" y="35570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Közvetlenül ellenőrizve vagy csak feltételezve?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457200" y="4023360"/>
            <a:ext cx="502920" cy="50292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930" y="4149090"/>
            <a:ext cx="251460" cy="2514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143000" y="397764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 történet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143000" y="42885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Hely, felelős, állapot időbélyeggel – törlés nélkül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760720" y="1051560"/>
            <a:ext cx="2926080" cy="3520440"/>
          </a:xfrm>
          <a:prstGeom prst="roundRect">
            <a:avLst>
              <a:gd name="adj" fmla="val 3125"/>
            </a:avLst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Text 17"/>
          <p:cNvSpPr txBox="1"/>
          <p:nvPr/>
        </p:nvSpPr>
        <p:spPr>
          <a:xfrm>
            <a:off x="5989320" y="12344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megvizsgáltunk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5989320" y="16002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Snipe-IT · GLPI · Odoo · SAP Asset Accounting · Sortly</a:t>
            </a:r>
            <a:endParaRPr lang="en-US" sz="1250" dirty="0"/>
          </a:p>
        </p:txBody>
      </p:sp>
      <p:sp>
        <p:nvSpPr>
          <p:cNvPr id="26" name="Text 19"/>
          <p:cNvSpPr txBox="1"/>
          <p:nvPr/>
        </p:nvSpPr>
        <p:spPr>
          <a:xfrm>
            <a:off x="5989320" y="2331720"/>
            <a:ext cx="2514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Egyik sem kezeli egyszerre a helyszíni, körzet- és időszakalapú vonalkódos leltárt és a hosszú távú, történeti nyilvántartást – és egyik sem asztali kliens.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Kik használják, és hogyan?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640080" cy="64008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125730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Adminisztrátor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435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Felhasználók, jogosultságok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57200" y="1965960"/>
            <a:ext cx="640080" cy="64008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" y="212598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19842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Leltárfelelős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30428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Import, időszakok, eltérések, riportok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834640"/>
            <a:ext cx="640080" cy="64008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" y="299466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Leltározó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172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Helyszíni beolvasás a saját körzeteiben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703320"/>
            <a:ext cx="640080" cy="64008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" y="386334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280160" y="3721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Megtekintő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280160" y="40416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egysége eszközei és riportjai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457200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leltár életciklusa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4773168" y="1645920"/>
            <a:ext cx="0" cy="2834640"/>
          </a:xfrm>
          <a:prstGeom prst="line">
            <a:avLst/>
          </a:prstGeom>
          <a:noFill/>
          <a:ln w="25400">
            <a:solidFill>
              <a:srgbClr val="C9DADD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1" name="Shape 15"/>
          <p:cNvSpPr/>
          <p:nvPr/>
        </p:nvSpPr>
        <p:spPr>
          <a:xfrm>
            <a:off x="4572000" y="1463040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2" name="Text 16"/>
          <p:cNvSpPr txBox="1"/>
          <p:nvPr/>
        </p:nvSpPr>
        <p:spPr>
          <a:xfrm>
            <a:off x="4572000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120640" y="146304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import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elvárt állomány az adatbázisba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572000" y="2011680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19"/>
          <p:cNvSpPr txBox="1"/>
          <p:nvPr/>
        </p:nvSpPr>
        <p:spPr>
          <a:xfrm>
            <a:off x="457200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5120640" y="201168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Leltáridőszak nyitása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pillanatkép az elvárt állományról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4572000" y="2560320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8" name="Text 22"/>
          <p:cNvSpPr txBox="1"/>
          <p:nvPr/>
        </p:nvSpPr>
        <p:spPr>
          <a:xfrm>
            <a:off x="4572000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5120640" y="256032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Beolvasás helyiségenként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vonalkód, mennyiség, hely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4572000" y="3108960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5"/>
          <p:cNvSpPr txBox="1"/>
          <p:nvPr/>
        </p:nvSpPr>
        <p:spPr>
          <a:xfrm>
            <a:off x="4572000" y="31089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5120640" y="310896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Javítás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sztornó, ismeretlen kódok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4572000" y="3657600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Text 28"/>
          <p:cNvSpPr txBox="1"/>
          <p:nvPr/>
        </p:nvSpPr>
        <p:spPr>
          <a:xfrm>
            <a:off x="4572000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29"/>
          <p:cNvSpPr txBox="1"/>
          <p:nvPr/>
        </p:nvSpPr>
        <p:spPr>
          <a:xfrm>
            <a:off x="5120640" y="36576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Összehasonlítás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hiány, többlet, más körzet</a:t>
            </a:r>
            <a:endParaRPr lang="en-US" sz="1400" dirty="0"/>
          </a:p>
        </p:txBody>
      </p:sp>
      <p:sp>
        <p:nvSpPr>
          <p:cNvPr id="36" name="Shape 30"/>
          <p:cNvSpPr/>
          <p:nvPr/>
        </p:nvSpPr>
        <p:spPr>
          <a:xfrm>
            <a:off x="4572000" y="4206240"/>
            <a:ext cx="402336" cy="402336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7" name="Text 31"/>
          <p:cNvSpPr txBox="1"/>
          <p:nvPr/>
        </p:nvSpPr>
        <p:spPr>
          <a:xfrm>
            <a:off x="4572000" y="4206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2"/>
          <p:cNvSpPr txBox="1"/>
          <p:nvPr/>
        </p:nvSpPr>
        <p:spPr>
          <a:xfrm>
            <a:off x="5120640" y="420624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Lezárás és riport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Excel export, jegyzőkönyv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történik egy beolvasáskor?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beolvasás esemény – semmit nem dobunk el, semmit nem törlünk.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Beolvasó mező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91640"/>
            <a:ext cx="3291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254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▌40000123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957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Vonalkódolvasó  ·  kamera  ·  Ctrl+V  ·  demó mód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3326130"/>
            <a:ext cx="251460" cy="2514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28016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Kiegészítők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79476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Fő eszköz beolvasva → </a:t>
            </a:r>
            <a:r>
              <a:rPr lang="en-US" sz="12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feltételezetten megvan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Saját kód beolvasva → </a:t>
            </a:r>
            <a:r>
              <a:rPr lang="en-US" sz="1200" b="1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közvetlenül ellenőrzött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0" y="1371600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1"/>
          <p:cNvSpPr/>
          <p:nvPr/>
        </p:nvSpPr>
        <p:spPr>
          <a:xfrm>
            <a:off x="4224528" y="1453896"/>
            <a:ext cx="384048" cy="384048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1549908"/>
            <a:ext cx="192024" cy="19202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54880" y="137160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MEGTALÁLVA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080760" y="137160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Dell OptiPlex 7010  ·  A-102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114800" y="2029968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5"/>
          <p:cNvSpPr/>
          <p:nvPr/>
        </p:nvSpPr>
        <p:spPr>
          <a:xfrm>
            <a:off x="4224528" y="2112264"/>
            <a:ext cx="384048" cy="384048"/>
          </a:xfrm>
          <a:prstGeom prst="ellipse">
            <a:avLst/>
          </a:prstGeom>
          <a:solidFill>
            <a:srgbClr val="D9A900"/>
          </a:solidFill>
          <a:ln w="12700">
            <a:solidFill>
              <a:srgbClr val="D9A900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0540" y="2208276"/>
            <a:ext cx="192024" cy="19202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754880" y="2029968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KÖRZET</a:t>
            </a:r>
            <a:endParaRPr lang="en-US" sz="1150" dirty="0"/>
          </a:p>
        </p:txBody>
      </p:sp>
      <p:sp>
        <p:nvSpPr>
          <p:cNvPr id="22" name="Text 17"/>
          <p:cNvSpPr txBox="1"/>
          <p:nvPr/>
        </p:nvSpPr>
        <p:spPr>
          <a:xfrm>
            <a:off x="6080760" y="20299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Rögzítve, de másik körzetbe tartozik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114800" y="2688336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4" name="Shape 19"/>
          <p:cNvSpPr/>
          <p:nvPr/>
        </p:nvSpPr>
        <p:spPr>
          <a:xfrm>
            <a:off x="4224528" y="2770632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0540" y="2866644"/>
            <a:ext cx="192024" cy="19202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4754880" y="2688336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ISMÉTELT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6080760" y="268833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Már beolvasva – a darabszám nem nő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114800" y="3346704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9" name="Shape 23"/>
          <p:cNvSpPr/>
          <p:nvPr/>
        </p:nvSpPr>
        <p:spPr>
          <a:xfrm>
            <a:off x="4224528" y="3429000"/>
            <a:ext cx="384048" cy="38404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0540" y="3525012"/>
            <a:ext cx="192024" cy="19202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754880" y="3346704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TÖBBLET</a:t>
            </a:r>
            <a:endParaRPr lang="en-US" sz="1150" dirty="0"/>
          </a:p>
        </p:txBody>
      </p:sp>
      <p:sp>
        <p:nvSpPr>
          <p:cNvPr id="32" name="Text 25"/>
          <p:cNvSpPr txBox="1"/>
          <p:nvPr/>
        </p:nvSpPr>
        <p:spPr>
          <a:xfrm>
            <a:off x="6080760" y="33467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Székkészlet: elvárt 30  ·  beolvasva 32 db</a:t>
            </a:r>
            <a:endParaRPr lang="en-US" sz="1150" dirty="0"/>
          </a:p>
        </p:txBody>
      </p:sp>
      <p:sp>
        <p:nvSpPr>
          <p:cNvPr id="33" name="Shape 26"/>
          <p:cNvSpPr/>
          <p:nvPr/>
        </p:nvSpPr>
        <p:spPr>
          <a:xfrm>
            <a:off x="4114800" y="4005072"/>
            <a:ext cx="45720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4" name="Shape 27"/>
          <p:cNvSpPr/>
          <p:nvPr/>
        </p:nvSpPr>
        <p:spPr>
          <a:xfrm>
            <a:off x="4224528" y="4087368"/>
            <a:ext cx="384048" cy="38404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0540" y="4183380"/>
            <a:ext cx="192024" cy="19202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4754880" y="400507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ISMERETLEN KÓD</a:t>
            </a:r>
            <a:endParaRPr lang="en-US" sz="1150" dirty="0"/>
          </a:p>
        </p:txBody>
      </p:sp>
      <p:sp>
        <p:nvSpPr>
          <p:cNvPr id="37" name="Text 29"/>
          <p:cNvSpPr txBox="1"/>
          <p:nvPr/>
        </p:nvSpPr>
        <p:spPr>
          <a:xfrm>
            <a:off x="6080760" y="40050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 ilyen kód – rögzítve kivizsgálásra</a:t>
            </a:r>
            <a:endParaRPr lang="en-US" sz="1150" dirty="0"/>
          </a:p>
        </p:txBody>
      </p:sp>
      <p:sp>
        <p:nvSpPr>
          <p:cNvPr id="38" name="Text 30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Architektúra: vékony kliens, okos szerver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640080" y="1216152"/>
            <a:ext cx="457200" cy="45720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133045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07008" y="1216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WPF kliens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XAML nézetek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CommunityToolkit.Mvvm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Beolvasás-kezelő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474720" y="105156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6"/>
          <p:cNvSpPr/>
          <p:nvPr/>
        </p:nvSpPr>
        <p:spPr>
          <a:xfrm>
            <a:off x="3657600" y="1216152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133045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224528" y="1216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18288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Controllerek → szolgáltatások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szerepkörök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Egységes hibaformátum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92240" y="1051560"/>
            <a:ext cx="2194560" cy="1828800"/>
          </a:xfrm>
          <a:prstGeom prst="roundRect">
            <a:avLst>
              <a:gd name="adj" fmla="val 5000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0"/>
          <p:cNvSpPr/>
          <p:nvPr/>
        </p:nvSpPr>
        <p:spPr>
          <a:xfrm>
            <a:off x="6675120" y="1216152"/>
            <a:ext cx="457200" cy="45720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9420" y="133045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242048" y="12161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675120" y="182880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Core, migrációk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tábla</a:t>
            </a:r>
            <a:endParaRPr lang="en-US" sz="1150" dirty="0"/>
          </a:p>
          <a:p>
            <a:pPr marL="177800" indent="-1778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Szabályok az adatbázisban is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2761488" y="1920240"/>
            <a:ext cx="603504" cy="0"/>
          </a:xfrm>
          <a:prstGeom prst="line">
            <a:avLst/>
          </a:prstGeom>
          <a:noFill/>
          <a:ln w="25400">
            <a:solidFill>
              <a:srgbClr val="1F6F7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hu-HU"/>
          </a:p>
        </p:txBody>
      </p:sp>
      <p:sp>
        <p:nvSpPr>
          <p:cNvPr id="19" name="Text 14"/>
          <p:cNvSpPr txBox="1"/>
          <p:nvPr/>
        </p:nvSpPr>
        <p:spPr>
          <a:xfrm>
            <a:off x="2606040" y="1280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· REST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· token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779008" y="1920240"/>
            <a:ext cx="603504" cy="0"/>
          </a:xfrm>
          <a:prstGeom prst="line">
            <a:avLst/>
          </a:prstGeom>
          <a:noFill/>
          <a:ln w="25400">
            <a:solidFill>
              <a:srgbClr val="1F6F78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hu-HU"/>
          </a:p>
        </p:txBody>
      </p:sp>
      <p:sp>
        <p:nvSpPr>
          <p:cNvPr id="21" name="Text 16"/>
          <p:cNvSpPr txBox="1"/>
          <p:nvPr/>
        </p:nvSpPr>
        <p:spPr>
          <a:xfrm>
            <a:off x="5623560" y="12801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 Core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457200" y="3154680"/>
            <a:ext cx="5212080" cy="777240"/>
          </a:xfrm>
          <a:prstGeom prst="roundRect">
            <a:avLst>
              <a:gd name="adj" fmla="val 11765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18"/>
          <p:cNvSpPr txBox="1"/>
          <p:nvPr/>
        </p:nvSpPr>
        <p:spPr>
          <a:xfrm>
            <a:off x="640080" y="315468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Kozos projekt  </a:t>
            </a: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DTO-k, felsorolások, API-útvonalak – a kliens és a szerver ugyanazt a szerződést használja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852160" y="3154680"/>
            <a:ext cx="2834640" cy="777240"/>
          </a:xfrm>
          <a:prstGeom prst="roundRect">
            <a:avLst>
              <a:gd name="adj" fmla="val 11765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0"/>
          <p:cNvSpPr txBox="1"/>
          <p:nvPr/>
        </p:nvSpPr>
        <p:spPr>
          <a:xfrm>
            <a:off x="6035040" y="315468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 8 (LTS)  </a:t>
            </a: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mindkét oldalon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üzleti szabály a szerveren fut: egy helyen van megvalósítva és tesztelve, és a jogosultság csak ott kényszeríthető ki megbízhatóan.</a:t>
            </a:r>
            <a:endParaRPr lang="en-US" sz="1200" dirty="0"/>
          </a:p>
        </p:txBody>
      </p:sp>
      <p:sp>
        <p:nvSpPr>
          <p:cNvPr id="27" name="Text 22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Adatmodell: az elvárt és a tényleges külön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 txBox="1"/>
          <p:nvPr/>
        </p:nvSpPr>
        <p:spPr>
          <a:xfrm>
            <a:off x="64008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Törzsadat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Eszköz, Kód, Kódtípus, Eszköztípus, Körzet, Állapot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05156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7" name="Text 5"/>
          <p:cNvSpPr txBox="1"/>
          <p:nvPr/>
        </p:nvSpPr>
        <p:spPr>
          <a:xfrm>
            <a:off x="3474720" y="1161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Leltározás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5087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Időszak, Elvárt tétel (pillanatkép), Leolvasás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2860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 txBox="1"/>
          <p:nvPr/>
        </p:nvSpPr>
        <p:spPr>
          <a:xfrm>
            <a:off x="64008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Történet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743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Elhelyezés, Felelős, Állapotváltozás, Kiegészítő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2286000"/>
            <a:ext cx="2651760" cy="1097280"/>
          </a:xfrm>
          <a:prstGeom prst="roundRect">
            <a:avLst>
              <a:gd name="adj" fmla="val 8333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3" name="Text 11"/>
          <p:cNvSpPr txBox="1"/>
          <p:nvPr/>
        </p:nvSpPr>
        <p:spPr>
          <a:xfrm>
            <a:off x="3474720" y="23957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Rendszer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7432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Felhasználó, Szerepkör, Import, Audit napló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6118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Több kód egy eszközhöz, normalizált és egyedi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leolvasás esemény, javítás sztornóval</a:t>
            </a:r>
            <a:endParaRPr lang="en-US" sz="125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Hely és felelős érvényességi időszakkal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1051560"/>
            <a:ext cx="2377440" cy="3566160"/>
          </a:xfrm>
          <a:prstGeom prst="roundRect">
            <a:avLst>
              <a:gd name="adj" fmla="val 3846"/>
            </a:avLst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7" name="Text 15"/>
          <p:cNvSpPr txBox="1"/>
          <p:nvPr/>
        </p:nvSpPr>
        <p:spPr>
          <a:xfrm>
            <a:off x="6537960" y="11887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3200" dirty="0"/>
          </a:p>
        </p:txBody>
      </p:sp>
      <p:sp>
        <p:nvSpPr>
          <p:cNvPr id="18" name="Text 16"/>
          <p:cNvSpPr txBox="1"/>
          <p:nvPr/>
        </p:nvSpPr>
        <p:spPr>
          <a:xfrm>
            <a:off x="6537960" y="1737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tábla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22860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834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megszorítás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33832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653796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szűrt egyedi index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Prototípus: a szerver működik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5120640" cy="475488"/>
          </a:xfrm>
          <a:prstGeom prst="roundRect">
            <a:avLst>
              <a:gd name="adj" fmla="val 1923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Text 2"/>
          <p:cNvSpPr txBox="1"/>
          <p:nvPr/>
        </p:nvSpPr>
        <p:spPr>
          <a:xfrm>
            <a:off x="594360" y="1051560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6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0515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/api/allapot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05156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 és adatbázis állapota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618488"/>
            <a:ext cx="5120640" cy="475488"/>
          </a:xfrm>
          <a:prstGeom prst="roundRect">
            <a:avLst>
              <a:gd name="adj" fmla="val 1923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8" name="Text 6"/>
          <p:cNvSpPr txBox="1"/>
          <p:nvPr/>
        </p:nvSpPr>
        <p:spPr>
          <a:xfrm>
            <a:off x="594360" y="1618488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16184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/api/auth/login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6184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bejelentkezés → token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185416"/>
            <a:ext cx="5120640" cy="475488"/>
          </a:xfrm>
          <a:prstGeom prst="roundRect">
            <a:avLst>
              <a:gd name="adj" fmla="val 1923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Text 10"/>
          <p:cNvSpPr txBox="1"/>
          <p:nvPr/>
        </p:nvSpPr>
        <p:spPr>
          <a:xfrm>
            <a:off x="594360" y="2185416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6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18541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/api/auth/en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383280" y="218541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bejelentkezett felhasználó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5120640" cy="475488"/>
          </a:xfrm>
          <a:prstGeom prst="roundRect">
            <a:avLst>
              <a:gd name="adj" fmla="val 1923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6" name="Text 14"/>
          <p:cNvSpPr txBox="1"/>
          <p:nvPr/>
        </p:nvSpPr>
        <p:spPr>
          <a:xfrm>
            <a:off x="594360" y="2752344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6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27523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/api/eszkozok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383280" y="275234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keresés, körzetszűrés, lapozás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319272"/>
            <a:ext cx="5120640" cy="475488"/>
          </a:xfrm>
          <a:prstGeom prst="roundRect">
            <a:avLst>
              <a:gd name="adj" fmla="val 1923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0" name="Text 18"/>
          <p:cNvSpPr txBox="1"/>
          <p:nvPr/>
        </p:nvSpPr>
        <p:spPr>
          <a:xfrm>
            <a:off x="594360" y="3319272"/>
            <a:ext cx="640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F6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331927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23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/api/eszkozok/{id}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331927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részletek, minden kód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0" y="105156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Jelszó csak sózott hash-ként (PBKDF2)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Alapból minden végpont védett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Egységes, </a:t>
            </a:r>
            <a:r>
              <a:rPr lang="en-US" sz="1250" dirty="0" err="1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szabványos</a:t>
            </a:r>
            <a:r>
              <a:rPr lang="en-US" sz="125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hibaválasz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943600" y="324612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12343B"/>
          </a:solidFill>
          <a:ln w="12700">
            <a:solidFill>
              <a:srgbClr val="12343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5" name="Text 23"/>
          <p:cNvSpPr txBox="1"/>
          <p:nvPr/>
        </p:nvSpPr>
        <p:spPr>
          <a:xfrm>
            <a:off x="612648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612648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API-teszt a valódi HTTP-csővezetéken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Kipróbálható Swaggerben: bejelentkezés, majd az eszközlista lekérése a demóadatokon.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Adatbázis és tesztadatok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Első migráció a teljes sémával, determinisztikus demóadatok, SQL Serveren kipróbálva.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874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eszköz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2331720" y="137160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689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2331720" y="18745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eszközkód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468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leolvasás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24688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9E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2331720" y="29718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megszorítás-ellenőrzés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6118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lezárt (2025) és egy folyamatban lévő (2026) leltár, minden eltéréstípusra példával.</a:t>
            </a:r>
            <a:endParaRPr lang="en-US" sz="120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4389120" y="1234440"/>
          <a:ext cx="4297680" cy="3337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Minőség: minden változás ellenőrizve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1115568" y="1216152"/>
            <a:ext cx="512064" cy="512064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584" y="1344168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vagy pull request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304288" y="1709928"/>
            <a:ext cx="237744" cy="0"/>
          </a:xfrm>
          <a:prstGeom prst="line">
            <a:avLst/>
          </a:prstGeom>
          <a:noFill/>
          <a:ln w="25400">
            <a:solidFill>
              <a:srgbClr val="1F6F78"/>
            </a:solidFill>
            <a:prstDash val="solid"/>
            <a:tailEnd type="triangle"/>
          </a:ln>
        </p:spPr>
        <p:txBody>
          <a:bodyPr/>
          <a:lstStyle/>
          <a:p>
            <a:endParaRPr lang="hu-HU"/>
          </a:p>
        </p:txBody>
      </p:sp>
      <p:sp>
        <p:nvSpPr>
          <p:cNvPr id="8" name="Shape 5"/>
          <p:cNvSpPr/>
          <p:nvPr/>
        </p:nvSpPr>
        <p:spPr>
          <a:xfrm>
            <a:off x="2560320" y="10972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6"/>
          <p:cNvSpPr/>
          <p:nvPr/>
        </p:nvSpPr>
        <p:spPr>
          <a:xfrm>
            <a:off x="3218688" y="1216152"/>
            <a:ext cx="512064" cy="512064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6704" y="134416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5176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Fordítás Windowson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407408" y="1709928"/>
            <a:ext cx="237744" cy="0"/>
          </a:xfrm>
          <a:prstGeom prst="line">
            <a:avLst/>
          </a:prstGeom>
          <a:noFill/>
          <a:ln w="25400">
            <a:solidFill>
              <a:srgbClr val="1F6F78"/>
            </a:solidFill>
            <a:prstDash val="solid"/>
            <a:tailEnd type="triangle"/>
          </a:ln>
        </p:spPr>
        <p:txBody>
          <a:bodyPr/>
          <a:lstStyle/>
          <a:p>
            <a:endParaRPr lang="hu-HU"/>
          </a:p>
        </p:txBody>
      </p:sp>
      <p:sp>
        <p:nvSpPr>
          <p:cNvPr id="13" name="Shape 9"/>
          <p:cNvSpPr/>
          <p:nvPr/>
        </p:nvSpPr>
        <p:spPr>
          <a:xfrm>
            <a:off x="4663440" y="10972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0"/>
          <p:cNvSpPr/>
          <p:nvPr/>
        </p:nvSpPr>
        <p:spPr>
          <a:xfrm>
            <a:off x="5321808" y="1216152"/>
            <a:ext cx="512064" cy="512064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9824" y="134416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automatikus teszt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510528" y="1709928"/>
            <a:ext cx="237744" cy="0"/>
          </a:xfrm>
          <a:prstGeom prst="line">
            <a:avLst/>
          </a:prstGeom>
          <a:noFill/>
          <a:ln w="25400">
            <a:solidFill>
              <a:srgbClr val="1F6F78"/>
            </a:solidFill>
            <a:prstDash val="solid"/>
            <a:tailEnd type="triangle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3"/>
          <p:cNvSpPr/>
          <p:nvPr/>
        </p:nvSpPr>
        <p:spPr>
          <a:xfrm>
            <a:off x="6766560" y="1097280"/>
            <a:ext cx="1828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4"/>
          <p:cNvSpPr/>
          <p:nvPr/>
        </p:nvSpPr>
        <p:spPr>
          <a:xfrm>
            <a:off x="7424928" y="1216152"/>
            <a:ext cx="512064" cy="512064"/>
          </a:xfrm>
          <a:prstGeom prst="ellipse">
            <a:avLst/>
          </a:prstGeom>
          <a:solidFill>
            <a:srgbClr val="2E9E5B"/>
          </a:solidFill>
          <a:ln w="12700">
            <a:solidFill>
              <a:srgbClr val="2E9E5B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52944" y="13441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Zöld: összevonható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57200" y="26060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3" name="Text 17"/>
          <p:cNvSpPr txBox="1"/>
          <p:nvPr/>
        </p:nvSpPr>
        <p:spPr>
          <a:xfrm>
            <a:off x="640080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3000" dirty="0"/>
          </a:p>
        </p:txBody>
      </p:sp>
      <p:sp>
        <p:nvSpPr>
          <p:cNvPr id="24" name="Text 18"/>
          <p:cNvSpPr txBox="1"/>
          <p:nvPr/>
        </p:nvSpPr>
        <p:spPr>
          <a:xfrm>
            <a:off x="1417320" y="2697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adatmodell-teszt</a:t>
            </a:r>
            <a:endParaRPr lang="en-US" sz="140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3337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Szűrt indexek, megszorítások, törlési szabályok – és hogy a migráció naprakész-e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3264408" y="26060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27" name="Text 21"/>
          <p:cNvSpPr txBox="1"/>
          <p:nvPr/>
        </p:nvSpPr>
        <p:spPr>
          <a:xfrm>
            <a:off x="3447288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28" name="Text 22"/>
          <p:cNvSpPr txBox="1"/>
          <p:nvPr/>
        </p:nvSpPr>
        <p:spPr>
          <a:xfrm>
            <a:off x="4224528" y="2697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API-teszt</a:t>
            </a:r>
            <a:endParaRPr lang="en-US" sz="1400" dirty="0"/>
          </a:p>
        </p:txBody>
      </p:sp>
      <p:sp>
        <p:nvSpPr>
          <p:cNvPr id="29" name="Text 23"/>
          <p:cNvSpPr txBox="1"/>
          <p:nvPr/>
        </p:nvSpPr>
        <p:spPr>
          <a:xfrm>
            <a:off x="3447288" y="3337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Bejelentkezés, jogosultság, keresés, lapozás, hibakezelés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6071616" y="2606040"/>
            <a:ext cx="26517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31" name="Text 25"/>
          <p:cNvSpPr txBox="1"/>
          <p:nvPr/>
        </p:nvSpPr>
        <p:spPr>
          <a:xfrm>
            <a:off x="6254496" y="2697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32" name="Text 26"/>
          <p:cNvSpPr txBox="1"/>
          <p:nvPr/>
        </p:nvSpPr>
        <p:spPr>
          <a:xfrm>
            <a:off x="7031736" y="2697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SQL-ellenőrzés</a:t>
            </a:r>
            <a:endParaRPr lang="en-US" sz="1400" dirty="0"/>
          </a:p>
        </p:txBody>
      </p:sp>
      <p:sp>
        <p:nvSpPr>
          <p:cNvPr id="33" name="Text 27"/>
          <p:cNvSpPr txBox="1"/>
          <p:nvPr/>
        </p:nvSpPr>
        <p:spPr>
          <a:xfrm>
            <a:off x="6254496" y="333756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megszorítások valódi SQL Serveren (kézzel futtatva, visszagörgetve)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kliens (WPF)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Tervezett képernyők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Bejelentkezés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Eszközlista szűrőkkel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Leltározás (beolvasó képernyő)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Leltár-összehasonlítás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import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Riportok, törzsadatok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1100" dirty="0"/>
          </a:p>
        </p:txBody>
      </p:sp>
      <p:pic>
        <p:nvPicPr>
          <p:cNvPr id="11" name="Kép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7234" y="868680"/>
            <a:ext cx="5729566" cy="32694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Kiegészítő funkció: címkétől a jegyzőkönyvig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Javaslat – oktatói jóváhagyásra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94360" cy="59436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0" y="1703070"/>
            <a:ext cx="297180" cy="2971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Címkegenerálás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Hiányzó vagy sérült címke pótlása, helyiségcímkék, PDF címkeív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QuestPDF + ZXing.Net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044952" y="2788920"/>
            <a:ext cx="219456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 lang="hu-HU"/>
          </a:p>
        </p:txBody>
      </p:sp>
      <p:sp>
        <p:nvSpPr>
          <p:cNvPr id="11" name="Shape 8"/>
          <p:cNvSpPr/>
          <p:nvPr/>
        </p:nvSpPr>
        <p:spPr>
          <a:xfrm>
            <a:off x="3291840" y="13716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2" name="Shape 9"/>
          <p:cNvSpPr/>
          <p:nvPr/>
        </p:nvSpPr>
        <p:spPr>
          <a:xfrm>
            <a:off x="3474720" y="1554480"/>
            <a:ext cx="594360" cy="59436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3310" y="1703070"/>
            <a:ext cx="297180" cy="2971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Kamerás beolvasás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Bármely gép leltározóeszköz, QR-kód is, olvasó nélkül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347472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OpenCvSharp4 + ZXing.Net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879592" y="2788920"/>
            <a:ext cx="219456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 lang="hu-HU"/>
          </a:p>
        </p:txBody>
      </p:sp>
      <p:sp>
        <p:nvSpPr>
          <p:cNvPr id="18" name="Shape 14"/>
          <p:cNvSpPr/>
          <p:nvPr/>
        </p:nvSpPr>
        <p:spPr>
          <a:xfrm>
            <a:off x="6126480" y="1371600"/>
            <a:ext cx="2560320" cy="2834640"/>
          </a:xfrm>
          <a:prstGeom prst="roundRect">
            <a:avLst>
              <a:gd name="adj" fmla="val 3571"/>
            </a:avLst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9" name="Shape 15"/>
          <p:cNvSpPr/>
          <p:nvPr/>
        </p:nvSpPr>
        <p:spPr>
          <a:xfrm>
            <a:off x="6309360" y="1554480"/>
            <a:ext cx="594360" cy="59436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950" y="1703070"/>
            <a:ext cx="297180" cy="2971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309360" y="2286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Leltárjegyzőkönyv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E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Lezárt leltárról, eltéréslistával, aláírási helyekkel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6309360" y="37033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QuestPDF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két rész egymás tesztanyagát adja: a nyomtatott címkével mérhető a kamerás felismerés.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3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Munkamegosztás és következő lépések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F4B53"/>
          </a:solidFill>
          <a:ln w="12700">
            <a:solidFill>
              <a:srgbClr val="1F4B5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5" name="Text 3"/>
          <p:cNvSpPr txBox="1"/>
          <p:nvPr/>
        </p:nvSpPr>
        <p:spPr>
          <a:xfrm>
            <a:off x="64008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Bárkányi Máté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Kliens és UX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64408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F4B53"/>
          </a:solidFill>
          <a:ln w="12700">
            <a:solidFill>
              <a:srgbClr val="1F4B5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9" name="Shape 7"/>
          <p:cNvSpPr/>
          <p:nvPr/>
        </p:nvSpPr>
        <p:spPr>
          <a:xfrm>
            <a:off x="3447288" y="128016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0" name="Text 8"/>
          <p:cNvSpPr txBox="1"/>
          <p:nvPr/>
        </p:nvSpPr>
        <p:spPr>
          <a:xfrm>
            <a:off x="3447288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41648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Horváth Máté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041648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Szerver és üzleti logika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71616" y="10515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F4B53"/>
          </a:solidFill>
          <a:ln w="12700">
            <a:solidFill>
              <a:srgbClr val="1F4B53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4" name="Shape 12"/>
          <p:cNvSpPr/>
          <p:nvPr/>
        </p:nvSpPr>
        <p:spPr>
          <a:xfrm>
            <a:off x="6254496" y="1280160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hu-HU"/>
          </a:p>
        </p:txBody>
      </p:sp>
      <p:sp>
        <p:nvSpPr>
          <p:cNvPr id="15" name="Text 13"/>
          <p:cNvSpPr txBox="1"/>
          <p:nvPr/>
        </p:nvSpPr>
        <p:spPr>
          <a:xfrm>
            <a:off x="6254496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48856" y="1188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Kiss Barnabás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848856" y="1508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 és minőség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5. alkalomig: forrásadatok és alapadatbázis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69748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import ClosedXML-lel, importnapló (C)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Import- és törzsadat-végpontok (B)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Szerepkör szerinti jogosultság (B)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69748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WPF: bejelentkezés, eszközlista szűrőkkel (A)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képernyő a kliensben (A)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Leltározási folyamat terve (B)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1798</Words>
  <Application>Microsoft Office PowerPoint</Application>
  <PresentationFormat>Diavetítés a képernyőre (16:9 oldalarány)</PresentationFormat>
  <Paragraphs>231</Paragraphs>
  <Slides>13</Slides>
  <Notes>13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Leltárkezelő rendszer – 4. alkalom</dc:title>
  <dc:subject>PptxGenJS Presentation</dc:subject>
  <dc:creator>PptxGenJS</dc:creator>
  <cp:lastModifiedBy>Kiss Barnabás</cp:lastModifiedBy>
  <cp:revision>3</cp:revision>
  <dcterms:created xsi:type="dcterms:W3CDTF">2026-09-29T09:36:38Z</dcterms:created>
  <dcterms:modified xsi:type="dcterms:W3CDTF">2026-09-29T14:46:00Z</dcterms:modified>
</cp:coreProperties>
</file>