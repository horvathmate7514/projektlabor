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9" r:id="rId9"/>
    <p:sldId id="260" r:id="rId10"/>
    <p:sldId id="266" r:id="rId11"/>
    <p:sldId id="270" r:id="rId12"/>
    <p:sldId id="263" r:id="rId13"/>
    <p:sldId id="265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428" autoAdjust="0"/>
  </p:normalViewPr>
  <p:slideViewPr>
    <p:cSldViewPr snapToGrid="0" snapToObjects="1">
      <p:cViewPr varScale="1">
        <p:scale>
          <a:sx n="129" d="100"/>
          <a:sy n="129" d="100"/>
        </p:scale>
        <p:origin x="11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munkalap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Calibri"/>
              </a:defRPr>
            </a:pPr>
            <a:r>
              <a:rPr lang="hu-HU" sz="1200" b="0" i="0" u="none" strike="noStrike">
                <a:solidFill>
                  <a:srgbClr val="12343B"/>
                </a:solidFill>
                <a:latin typeface="Calibri"/>
              </a:rPr>
              <a:t>A 2025. évi demóleltár összehasonlítása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Tételek</c:v>
                </c:pt>
              </c:strCache>
            </c:strRef>
          </c:tx>
          <c:spPr>
            <a:solidFill>
              <a:srgbClr val="1F6F7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0"/>
                    </a:solidFill>
                    <a:latin typeface="Arial"/>
                  </a:defRPr>
                </a:pPr>
                <a:endParaRPr lang="hu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Megtalált</c:v>
                </c:pt>
                <c:pt idx="1">
                  <c:v>Részben</c:v>
                </c:pt>
                <c:pt idx="2">
                  <c:v>Hiányzó</c:v>
                </c:pt>
                <c:pt idx="3">
                  <c:v>Többlet</c:v>
                </c:pt>
                <c:pt idx="4">
                  <c:v>Más körzetből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177</c:v>
                </c:pt>
                <c:pt idx="1">
                  <c:v>17</c:v>
                </c:pt>
                <c:pt idx="2">
                  <c:v>26</c:v>
                </c:pt>
                <c:pt idx="3">
                  <c:v>8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C-447A-B16E-48D6B1988E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0"/>
                </a:solidFill>
                <a:latin typeface="Calibri"/>
              </a:defRPr>
            </a:pPr>
            <a:endParaRPr lang="hu-H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231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mtClean="0"/>
              <a:t>~20 mp – Bárkányi Máté. Bemutatkozás: Bárkányi Máté, Horváth Máté és Kiss Barnabás; a leltározó és leltárkezelő alkalmazást fejlesztjük. Ma is a teljes projektet mutatjuk be az alapoktól; az újdonság, hogy a forrásadatok importja és a leltározás alapfolyamata már végig működik: a kliensből, a szerveren át az adatbázisig.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~35 mp – Bárkányi Máté. A leltár célja: a nyilvántartásban lévő eszközök fizikailag is megvannak-e. Négy fő nehézség: több kód egy eszközön, mennyiséges tételek, más körzetben előkerülő eszközök, valamint a hely és a korábbi eredmények hiánya. Ezért nem elég egy Excel-tábla.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mtClean="0"/>
              <a:t>~35 mp – Horváth Máté. Öt meglévő rendszert vizsgáltunk; mindegyikből tanultunk, de egyik sem fedi le a teljes feladatot. Ami nálunk új: egységes folyamat, reprodukálható leltáreredmény a pillanatkép miatt, valósághű azonosítás, a kiegészítők ellenőrzésének követése és a teljes történetiség.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mtClean="0"/>
              <a:t>~35 mp – Bárkányi Máté. Négy szerepkör a valós leltározási folyamat alapján; a leltározó csak a számára kijelölt körzetekben dolgozhat, és ezt a kliens is, a szerver is betartja. Jobb oldalon a leltár életciklusa: az első három lépés – import, időszak nyitása, beolvasás – és a javítás már működik.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~45 mp – Horváth Máté. Három futó komponens: WPF kliens, ASP.NET Core szerver és SQL Server. REST, JSON, JWT token. A szerver rétegzett, a közös Kozos projekt a kettő szerződése: a kliens ugyanazokat a típusokat és útvonalakat használja, mint a szerver, így nem csúszhatnak el egymástól. Az elv: vékony kliens, okos szerver.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~40 mp – Kiss Barnabás. Az adatmodell négy területre bomlik. Az elvárt állomány és a leltáreredmény külön van: a leltár nyitásakor pillanatkép készül, így egy régi leltár akkor is reprodukálható, ha a forrásadatok azóta változtak. A kódok normalizált értéke egyedi, a leolvasás esemény, a hely és a felelős érvényességi időszakkal tárolódik.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mtClean="0"/>
              <a:t>~35 mp – Kiss Barnabás. A demóadatokat egy determinisztikus SQL-szkript tölti be: 240 eszköz, 689 kód, egy lezárt és egy folyamatban lévő leltár. Egy ellenőrző szkript 12 szándékosan hibás műveletet próbál ki – az adatbázis mindet a várt módon kezeli; az import után is 12/12.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mtClean="0"/>
              <a:t>~55 mp – Kiss Barnabás. Az Excel-import két lépésben dolgozik. A próbafuttatás semmit nem ír: megmutatja, hány sor új, módosított, változatlan vagy hibás, és módosított sornál mezőnként a régi és az új értéket. Jóváhagyás után a szerver újra ellenőriz, és egyetlen mentésben ír – ha közben ütközés történik, semmi sem kerül be. A fejlécet rugalmasan ismeri fel, a vezető nullákat megtartja, az ismeretlen körzetű sort elutasítja, az üres cella nem töröl adatot. Minden futás naplózódik, a hibák Excelben letölthetők. A képen a helyes mintafájl próbafuttatása: 25 új, 4 módosított, 1 változatlan.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16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mtClean="0"/>
              <a:t>~45 mp – Horváth Máté. Ez a rendszer szíve, és ma már működik. A szerver normalizálja a kódot, bármely aktív kód alapján azonosít, és rögzített sorrendben minősít: ismételt, nem aktív, más körzet, többlet, rendben – ismeretlen kódnál pedig ezt rögzíti. Ami érvényes bemenet, az mindig rögzül; javítani csak indoklással, sztornóval lehet. Az ismételt beolvasás nem növeli a darabszámot.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mtClean="0"/>
              <a:t>~50 mp – Bárkányi Máté. A leltározó képernyő: felül az időszak és a körzet – a leltározó csak a saját körzeteit választhatja. Az olvasó billentyűzetként ír, és Entert küld; a kurzor mindig a kódmezőben marad. Olvasó nélkül Ctrl+V-vel vagy demókóddal is működik. A visszajelzés színe a szerver minősítése: zöld, narancs, sárga, lila, piros – és mindig szöveggel is. A képen egy ismeretlen kód után; alul a saját beolvasások, sztornóval.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mtClean="0"/>
              <a:t>~35 mp – Bárkányi Máté. Bejelentkezés után a szerepkör szerinti oldalak jelennek meg; a token csak a memóriában van. Az eszközlista szűrése és lapozása a szerveren történik: keresés bármely kódra, szűrés körzetre, típusra, állapotra, helyiségre és felelősre. Egy sorra kattintva látszik minden adat és kód. Hogy ki mit lát, azt a szerver dönti 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14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mtClean="0"/>
              <a:t>~50 mp – Horváth Máté. A szerver végpontjai a 6. alkalomra: bejelentkezés, eszközlista szűrőkkel és láthatósággal, import, beolvasás és sztornó – mellettük a törzsadatok és a leltáridőszakok kezelése. A leltáridőszak tervezettből nyitottba, majd lezártba lép; nyitáskor pillanatkép készül. A jogosultságot szerepkör és körzet szerint a szerver kényszeríti ki. Mindezt SQL Serveren is végigpróbáltuk.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~35 mp – Kiss Barnabás. A GitHub Actions minden pushnál és pull requestnél lefordítja a teljes megoldást Windowson, és lefuttatja a 132 automatikus tesztet: 21 adatmodell-, 64 API- és 47 import-teszt. Mind sikeres.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~35 mp – Bárkányi Máté. A kiegészítő funkciót az oktató jóváhagyta: címkegenerálás, kamerás beolvasás és leltárjegyzőkönyv, a 12. alkalomra. A kliensben már előkészítettük: minden beolvasás egyetlen közös ponton megy át, ezt fogja hívni a kamera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~40 mp – mindhárman egy-egy mondatban. Bárkányi Máté: kliens és felhasználói élmény. Horváth Máté: szerver és üzleti logika. Kiss Barnabás: adat, import és minőség. A 7. alkalomra a mennyiségek és az eltérő körzet kerül előtérbe: darabszám-nézet, a hiány és a többlet megjelenítése, a pillanatkép utólagos bővítése, és ha megérkezik, a valódi Excel-forrásfájl. Köszönjük, várjuk a kérdéseket.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LABOR  </a:t>
            </a:r>
            <a:r>
              <a:rPr lang="en-US" sz="1200" b="1" kern="0" spc="20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b="1" kern="0" spc="200" smtClean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ALKALOM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Leltárkezelő rendszer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Vonalkódos leltározás és hosszú távú eszköznyilvántartás egyetemi környezetben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smtClean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Forrásadatok, import és a leltározás alapjai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Bárkányi Máté  ·  Horváth Máté  ·  Kiss Barnabás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6082589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6206947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6300216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6362395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6517843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6580022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6673291" y="1143000"/>
            <a:ext cx="9326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6797650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6922008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6984187" y="1143000"/>
            <a:ext cx="9326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7108546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7201814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Shape 18"/>
          <p:cNvSpPr/>
          <p:nvPr/>
        </p:nvSpPr>
        <p:spPr>
          <a:xfrm>
            <a:off x="7295083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7419442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7481621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 txBox="1"/>
          <p:nvPr/>
        </p:nvSpPr>
        <p:spPr>
          <a:xfrm>
            <a:off x="589788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40000123  ·  L-2021-0123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2176272"/>
            <a:ext cx="2926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nehéz egy egyetemi leltár?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elvárt állomány egy Excel exportban él – a valóság a termekben és a folyosókon.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640080" cy="64008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516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18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eszköz – több kód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0756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szám, leltári szám, gyári szám: az eszközön bármelyik lehet.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7"/>
          <p:cNvSpPr/>
          <p:nvPr/>
        </p:nvSpPr>
        <p:spPr>
          <a:xfrm>
            <a:off x="4892040" y="1691640"/>
            <a:ext cx="640080" cy="64008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8516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618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szék – egy rekord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20756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elég a „megvan / nincs meg”: darabszám, hiány és többlet kell.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1"/>
          <p:cNvSpPr/>
          <p:nvPr/>
        </p:nvSpPr>
        <p:spPr>
          <a:xfrm>
            <a:off x="685800" y="3337560"/>
            <a:ext cx="640080" cy="64008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4975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264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Rossz körzetben került elő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7216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Érvényes eszköz, de másik körzeté – nem dobhatjuk el, rögzíteni kell.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63440" y="30632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Shape 15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975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60720" y="3264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Hiányzik a hely és a történet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760720" y="37216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forrásban nincs szobaszám, a régi leltárak eredménye pedig elvész.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ad hozzá a rendszerünk?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1223010"/>
            <a:ext cx="251460" cy="251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05156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Egységes folyamat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362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Helyszíni leltározás és nyilvántartás egy rendszerben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19545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78308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Reprodukálható leltár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0939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Pillanatkép az elvárt állományról a leltár nyitásakor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56032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" y="268605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51460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Valósághű azonosítás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8254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Bármely kód, darabszámok, más körzet, ismeretlen kód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29184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" y="34175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24612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Kiegészítők ellenőrzése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3557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Közvetlenül ellenőrizve vagy csak feltételezve?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402336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30" y="4149090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397764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történet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42885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Hely, felelős, állapot időbélyeggel – törlés nélkül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760720" y="1051560"/>
            <a:ext cx="2926080" cy="3520440"/>
          </a:xfrm>
          <a:prstGeom prst="roundRect">
            <a:avLst>
              <a:gd name="adj" fmla="val 3125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17"/>
          <p:cNvSpPr txBox="1"/>
          <p:nvPr/>
        </p:nvSpPr>
        <p:spPr>
          <a:xfrm>
            <a:off x="598932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megvizsgáltunk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5989320" y="1600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Snipe-IT · GLPI · Odoo · SAP Asset Accounting · Sortly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5989320" y="233172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Egyik sem kezeli egyszerre a helyszíni, körzet- és időszakalapú vonalkódos leltárt és a hosszú távú, történeti nyilvántartást – és egyik sem asztali kliens.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Kik használják, és hogyan?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640080" cy="64008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2573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Adminisztrátor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435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Felhasználók, jogosultságok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640080" cy="64008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21259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1984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Leltárfelelős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304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időszakok, eltérések, riportok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834640"/>
            <a:ext cx="640080" cy="64008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" y="29946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Leltározó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Helyszíni beolvasás a saját körzeteiben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703320"/>
            <a:ext cx="640080" cy="64008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" y="38633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3721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Megtekintő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28016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egysége eszközei és riportjai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leltár életciklusa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773168" y="1645920"/>
            <a:ext cx="0" cy="2834640"/>
          </a:xfrm>
          <a:prstGeom prst="line">
            <a:avLst/>
          </a:prstGeom>
          <a:noFill/>
          <a:ln w="25400">
            <a:solidFill>
              <a:srgbClr val="C9DAD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Shape 15"/>
          <p:cNvSpPr/>
          <p:nvPr/>
        </p:nvSpPr>
        <p:spPr>
          <a:xfrm>
            <a:off x="4572000" y="146304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16"/>
          <p:cNvSpPr txBox="1"/>
          <p:nvPr/>
        </p:nvSpPr>
        <p:spPr>
          <a:xfrm>
            <a:off x="457200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120640" y="14630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elvárt állomány az adatbázisba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572000" y="201168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19"/>
          <p:cNvSpPr txBox="1"/>
          <p:nvPr/>
        </p:nvSpPr>
        <p:spPr>
          <a:xfrm>
            <a:off x="45720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120640" y="20116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Leltáridőszak nyitása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pillanatkép az elvárt állományról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572000" y="256032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2"/>
          <p:cNvSpPr txBox="1"/>
          <p:nvPr/>
        </p:nvSpPr>
        <p:spPr>
          <a:xfrm>
            <a:off x="457200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120640" y="25603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Beolvasás helyiségenként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vonalkód, mennyiség, hely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572000" y="310896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5"/>
          <p:cNvSpPr txBox="1"/>
          <p:nvPr/>
        </p:nvSpPr>
        <p:spPr>
          <a:xfrm>
            <a:off x="4572000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5120640" y="31089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Javítás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sztornó, ismeretlen kódok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4572000" y="365760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28"/>
          <p:cNvSpPr txBox="1"/>
          <p:nvPr/>
        </p:nvSpPr>
        <p:spPr>
          <a:xfrm>
            <a:off x="4572000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5120640" y="36576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Összehasonlítás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hiány, többlet, más körzet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4572000" y="420624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7" name="Text 31"/>
          <p:cNvSpPr txBox="1"/>
          <p:nvPr/>
        </p:nvSpPr>
        <p:spPr>
          <a:xfrm>
            <a:off x="457200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5120640" y="42062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Lezárás és riport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Excel export, jegyzőkönyv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Architektúra: vékony kliens, okos szerver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57200" cy="45720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33045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216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kliens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XAML nézetek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CommunityToolkit.Mvvm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Beolvasás-kezelő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74720" y="105156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6"/>
          <p:cNvSpPr/>
          <p:nvPr/>
        </p:nvSpPr>
        <p:spPr>
          <a:xfrm>
            <a:off x="3657600" y="1216152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133045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24528" y="1216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18288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Controllerek → szolgáltatások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szerepkörök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Egységes hibaformátum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92240" y="105156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0"/>
          <p:cNvSpPr/>
          <p:nvPr/>
        </p:nvSpPr>
        <p:spPr>
          <a:xfrm>
            <a:off x="6675120" y="1216152"/>
            <a:ext cx="457200" cy="45720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420" y="133045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42048" y="1216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675120" y="18288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migrációk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tábla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Szabályok az adatbázisban is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2761488" y="1920240"/>
            <a:ext cx="603504" cy="0"/>
          </a:xfrm>
          <a:prstGeom prst="line">
            <a:avLst/>
          </a:prstGeom>
          <a:noFill/>
          <a:ln w="25400">
            <a:solidFill>
              <a:srgbClr val="1F6F7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4"/>
          <p:cNvSpPr txBox="1"/>
          <p:nvPr/>
        </p:nvSpPr>
        <p:spPr>
          <a:xfrm>
            <a:off x="2606040" y="1280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token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779008" y="1920240"/>
            <a:ext cx="603504" cy="0"/>
          </a:xfrm>
          <a:prstGeom prst="line">
            <a:avLst/>
          </a:prstGeom>
          <a:noFill/>
          <a:ln w="25400">
            <a:solidFill>
              <a:srgbClr val="1F6F7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6"/>
          <p:cNvSpPr txBox="1"/>
          <p:nvPr/>
        </p:nvSpPr>
        <p:spPr>
          <a:xfrm>
            <a:off x="5623560" y="1280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" y="315468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18"/>
          <p:cNvSpPr txBox="1"/>
          <p:nvPr/>
        </p:nvSpPr>
        <p:spPr>
          <a:xfrm>
            <a:off x="640080" y="3154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Kozos projekt  </a:t>
            </a: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DTO-k, felsorolások, API-útvonalak – a kliens és a szerver ugyanazt a szerződést használja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852160" y="315468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0"/>
          <p:cNvSpPr txBox="1"/>
          <p:nvPr/>
        </p:nvSpPr>
        <p:spPr>
          <a:xfrm>
            <a:off x="6035040" y="3154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(LTS)  </a:t>
            </a: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mindkét oldalon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üzleti szabály a szerveren fut: egy helyen van megvalósítva és tesztelve, és a jogosultság csak ott kényszeríthető ki megbízhatóan.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Adatmodell: az elvárt és a tényleges külön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 txBox="1"/>
          <p:nvPr/>
        </p:nvSpPr>
        <p:spPr>
          <a:xfrm>
            <a:off x="64008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Törzsadat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Eszköz, Kód, Kódtípus, Eszköztípus, Körzet, Állapot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 txBox="1"/>
          <p:nvPr/>
        </p:nvSpPr>
        <p:spPr>
          <a:xfrm>
            <a:off x="347472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Leltározás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508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Időszak, Elvárt tétel (pillanatkép), Leolvasás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 txBox="1"/>
          <p:nvPr/>
        </p:nvSpPr>
        <p:spPr>
          <a:xfrm>
            <a:off x="64008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Történet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43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Elhelyezés, Felelős, Állapotváltozás, Kiegészítő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22860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 txBox="1"/>
          <p:nvPr/>
        </p:nvSpPr>
        <p:spPr>
          <a:xfrm>
            <a:off x="347472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743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Felhasználó, Szerepkör, Import, Audit napló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11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kód egy eszközhöz, normalizált és egyedi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leolvasás esemény, javítás sztornóval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 és felelős érvényességi időszakkal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051560"/>
            <a:ext cx="2377440" cy="3566160"/>
          </a:xfrm>
          <a:prstGeom prst="roundRect">
            <a:avLst>
              <a:gd name="adj" fmla="val 3846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 txBox="1"/>
          <p:nvPr/>
        </p:nvSpPr>
        <p:spPr>
          <a:xfrm>
            <a:off x="653796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tábla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megszorítás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383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szűrt egyedi index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 és tesztadatok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Első migráció a teljes sémával, determinisztikus demóadatok, SQL Serveren kipróbálva.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eszköz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689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eszközkód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leolvasás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smtClean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megszorítás-ellenőrzés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lezárt (2025) és egy folyamatban lévő (2026) leltár, minden eltéréstípusra példával.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389120" y="1234440"/>
          <a:ext cx="42976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smtClean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Excel-import: előbb próba, aztán írás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254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smtClean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lépés, egy mentés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254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Fejléc az első 20 sor bármelyikében, rugalmas oszlopnevek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Hibás sor kimarad, figyelmeztetéssel bekerül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Ismételt import: mezőnkénti különbség, az üres cella nem töröl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Importnapló, a hibák letölthetők Excelben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Mintafájlon: 25 új, 4 frissített, 1 változatlan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pic>
        <p:nvPicPr>
          <p:cNvPr id="5" name="Képernyőké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300" y="939800"/>
            <a:ext cx="5397500" cy="3271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4485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történik egy beolvasáskor?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beolvasás esemény – semmit nem dobunk el, semmit nem törlünk.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Beolvasó mező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▌40000123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Vonalkódolvasó  ·  kamera  ·  Ctrl+V  ·  demó mód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32613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Kiegészítők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794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 eszköz beolvasva → </a:t>
            </a:r>
            <a:r>
              <a:rPr lang="en-US" sz="12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feltételezetten megvan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kód beolvasva → </a:t>
            </a:r>
            <a:r>
              <a:rPr lang="en-US" sz="12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közvetlenül ellenőrzött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0" y="137160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1"/>
          <p:cNvSpPr/>
          <p:nvPr/>
        </p:nvSpPr>
        <p:spPr>
          <a:xfrm>
            <a:off x="4224528" y="1453896"/>
            <a:ext cx="384048" cy="38404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1549908"/>
            <a:ext cx="192024" cy="1920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54880" y="13716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smtClean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RENDBEN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080760" y="1371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OptiPlex 7010  ·  A-102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114800" y="2029968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5"/>
          <p:cNvSpPr/>
          <p:nvPr/>
        </p:nvSpPr>
        <p:spPr>
          <a:xfrm>
            <a:off x="4224528" y="2112264"/>
            <a:ext cx="384048" cy="384048"/>
          </a:xfrm>
          <a:prstGeom prst="ellipse">
            <a:avLst/>
          </a:prstGeom>
          <a:solidFill>
            <a:srgbClr val="D9A900"/>
          </a:solidFill>
          <a:ln w="12700">
            <a:solidFill>
              <a:srgbClr val="D9A90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540" y="2208276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754880" y="20299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KÖRZET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6080760" y="20299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Rögzítve, de másik körzetbe tartozik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114800" y="2688336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Shape 19"/>
          <p:cNvSpPr/>
          <p:nvPr/>
        </p:nvSpPr>
        <p:spPr>
          <a:xfrm>
            <a:off x="4224528" y="2770632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2866644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754880" y="268833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ISMÉTELT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080760" y="268833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 beolvasva – a darabszám nem nő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114800" y="3346704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Shape 23"/>
          <p:cNvSpPr/>
          <p:nvPr/>
        </p:nvSpPr>
        <p:spPr>
          <a:xfrm>
            <a:off x="4224528" y="342900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0540" y="3525012"/>
            <a:ext cx="192024" cy="1920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754880" y="334670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TÖBBLET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6080760" y="33467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Székkészlet: elvárt 30  ·  beolvasva 32 db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4114800" y="4005072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Shape 27"/>
          <p:cNvSpPr/>
          <p:nvPr/>
        </p:nvSpPr>
        <p:spPr>
          <a:xfrm>
            <a:off x="4224528" y="4087368"/>
            <a:ext cx="384048" cy="38404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0540" y="4183380"/>
            <a:ext cx="192024" cy="19202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754880" y="4005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ISMERETLEN KÓD</a:t>
            </a:r>
            <a:endParaRPr lang="en-US" sz="1150" dirty="0"/>
          </a:p>
        </p:txBody>
      </p:sp>
      <p:sp>
        <p:nvSpPr>
          <p:cNvPr id="37" name="Text 29"/>
          <p:cNvSpPr txBox="1"/>
          <p:nvPr/>
        </p:nvSpPr>
        <p:spPr>
          <a:xfrm>
            <a:off x="6080760" y="4005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ilyen kód – rögzítve kivizsgálásra</a:t>
            </a:r>
            <a:endParaRPr lang="en-US" sz="1150" dirty="0"/>
          </a:p>
        </p:txBody>
      </p:sp>
      <p:sp>
        <p:nvSpPr>
          <p:cNvPr id="38" name="Text 30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smtClean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leltározó képernyő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254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smtClean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Azonnali, színes visszajelzés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254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Időszak és körzet: csak ahol leltározhatsz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Olvasó, Ctrl+V vagy demókód (Ctrl+Shift+R / E)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kurzor mindig a kódmezőben marad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Zöld · narancs · sárga · lila · piros – mindig szöveggel is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beolvasások, sztornó indoklással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pic>
        <p:nvPicPr>
          <p:cNvPr id="5" name="Képernyőké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300" y="939800"/>
            <a:ext cx="5397500" cy="3271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smtClean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Bejelentkezés és eszközlista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254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400" b="1" smtClean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Szűrés és lapozás a szerveren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254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hu-HU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csak a memóriában, szerepkör szerinti oldalak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hu-HU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Keresés bármely kódra vagy a névre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hu-HU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Szűrés körzetre, típusra, állapotra, helyre, felelősre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hu-HU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Láthatóság szerepkör szerint – a szerver dönt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hu-HU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Részletek: minden kód, érték, beszerzés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pic>
        <p:nvPicPr>
          <p:cNvPr id="5" name="Képernyőké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300" y="939800"/>
            <a:ext cx="5397500" cy="3271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3024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smtClean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szerver a 6. alkalomra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475488"/>
          </a:xfrm>
          <a:prstGeom prst="roundRect">
            <a:avLst>
              <a:gd name="adj" fmla="val 1923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 txBox="1"/>
          <p:nvPr/>
        </p:nvSpPr>
        <p:spPr>
          <a:xfrm>
            <a:off x="594360" y="105156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smtClean="0">
                <a:solidFill>
                  <a:srgbClr val="1F6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51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smtClean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051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bejelentkezés → token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5120640" cy="475488"/>
          </a:xfrm>
          <a:prstGeom prst="roundRect">
            <a:avLst>
              <a:gd name="adj" fmla="val 1923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 txBox="1"/>
          <p:nvPr/>
        </p:nvSpPr>
        <p:spPr>
          <a:xfrm>
            <a:off x="594360" y="161848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smtClean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6184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smtClean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/api/eszkozok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184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15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szűrők, lapozás, láthatóság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185416"/>
            <a:ext cx="5120640" cy="475488"/>
          </a:xfrm>
          <a:prstGeom prst="roundRect">
            <a:avLst>
              <a:gd name="adj" fmla="val 1923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 txBox="1"/>
          <p:nvPr/>
        </p:nvSpPr>
        <p:spPr>
          <a:xfrm>
            <a:off x="594360" y="218541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smtClean="0">
                <a:solidFill>
                  <a:srgbClr val="1F6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18541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smtClean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/api/importok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18541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próbafuttatás, import, napló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5120640" cy="475488"/>
          </a:xfrm>
          <a:prstGeom prst="roundRect">
            <a:avLst>
              <a:gd name="adj" fmla="val 1923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 txBox="1"/>
          <p:nvPr/>
        </p:nvSpPr>
        <p:spPr>
          <a:xfrm>
            <a:off x="594360" y="27523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smtClean="0">
                <a:solidFill>
                  <a:srgbClr val="1F6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7523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smtClean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…/{id}/leolvasasok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27523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beolvasás és minősítés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5120640" cy="475488"/>
          </a:xfrm>
          <a:prstGeom prst="roundRect">
            <a:avLst>
              <a:gd name="adj" fmla="val 1923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 txBox="1"/>
          <p:nvPr/>
        </p:nvSpPr>
        <p:spPr>
          <a:xfrm>
            <a:off x="594360" y="33192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smtClean="0">
                <a:solidFill>
                  <a:srgbClr val="1F6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3192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smtClean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…/{id}/sztorno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3192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javítás indoklással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10515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Leltáridőszak: tervezett → nyitott → lezárt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Pillanatkép az elvárt állományról nyitáskor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Jogosultság szerepkör és körzet szerint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0" y="32461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 txBox="1"/>
          <p:nvPr/>
        </p:nvSpPr>
        <p:spPr>
          <a:xfrm>
            <a:off x="61264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smtClean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/ 132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smtClean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automatikus teszt sikeres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Serveren is kipróbálva: időszak nyitása, mind a hat minősítés, import, sztornó.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Minőség: minden változás ellenőrizve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1115568" y="1216152"/>
            <a:ext cx="512064" cy="512064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1344168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vagy pull request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304288" y="1709928"/>
            <a:ext cx="237744" cy="0"/>
          </a:xfrm>
          <a:prstGeom prst="line">
            <a:avLst/>
          </a:prstGeom>
          <a:noFill/>
          <a:ln w="25400">
            <a:solidFill>
              <a:srgbClr val="1F6F78"/>
            </a:solidFill>
            <a:prstDash val="solid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6"/>
          <p:cNvSpPr/>
          <p:nvPr/>
        </p:nvSpPr>
        <p:spPr>
          <a:xfrm>
            <a:off x="3218688" y="1216152"/>
            <a:ext cx="512064" cy="512064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34416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Fordítás Windowson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07408" y="1709928"/>
            <a:ext cx="237744" cy="0"/>
          </a:xfrm>
          <a:prstGeom prst="line">
            <a:avLst/>
          </a:prstGeom>
          <a:noFill/>
          <a:ln w="25400">
            <a:solidFill>
              <a:srgbClr val="1F6F78"/>
            </a:solidFill>
            <a:prstDash val="solid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0"/>
          <p:cNvSpPr/>
          <p:nvPr/>
        </p:nvSpPr>
        <p:spPr>
          <a:xfrm>
            <a:off x="5321808" y="1216152"/>
            <a:ext cx="512064" cy="512064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134416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mtClean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automatikus teszt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510528" y="1709928"/>
            <a:ext cx="237744" cy="0"/>
          </a:xfrm>
          <a:prstGeom prst="line">
            <a:avLst/>
          </a:prstGeom>
          <a:noFill/>
          <a:ln w="25400">
            <a:solidFill>
              <a:srgbClr val="1F6F78"/>
            </a:solidFill>
            <a:prstDash val="solid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3"/>
          <p:cNvSpPr/>
          <p:nvPr/>
        </p:nvSpPr>
        <p:spPr>
          <a:xfrm>
            <a:off x="6766560" y="10972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4"/>
          <p:cNvSpPr/>
          <p:nvPr/>
        </p:nvSpPr>
        <p:spPr>
          <a:xfrm>
            <a:off x="7424928" y="1216152"/>
            <a:ext cx="512064" cy="512064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13441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Zöld: összevonható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17"/>
          <p:cNvSpPr txBox="1"/>
          <p:nvPr/>
        </p:nvSpPr>
        <p:spPr>
          <a:xfrm>
            <a:off x="640080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000" dirty="0"/>
          </a:p>
        </p:txBody>
      </p:sp>
      <p:sp>
        <p:nvSpPr>
          <p:cNvPr id="24" name="Text 18"/>
          <p:cNvSpPr txBox="1"/>
          <p:nvPr/>
        </p:nvSpPr>
        <p:spPr>
          <a:xfrm>
            <a:off x="1417320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adatmodell-teszt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Szűrt indexek, megszorítások, törlési szabályok – és hogy a migráció naprakész-e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264408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1"/>
          <p:cNvSpPr txBox="1"/>
          <p:nvPr/>
        </p:nvSpPr>
        <p:spPr>
          <a:xfrm>
            <a:off x="3447288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smtClean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3000" dirty="0"/>
          </a:p>
        </p:txBody>
      </p:sp>
      <p:sp>
        <p:nvSpPr>
          <p:cNvPr id="28" name="Text 22"/>
          <p:cNvSpPr txBox="1"/>
          <p:nvPr/>
        </p:nvSpPr>
        <p:spPr>
          <a:xfrm>
            <a:off x="4224528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API-teszt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3447288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Bejelentkezés, eszközlista és szűrés, leltáridőszak, beolvasás, sztornó, jogosultság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071616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5"/>
          <p:cNvSpPr txBox="1"/>
          <p:nvPr/>
        </p:nvSpPr>
        <p:spPr>
          <a:xfrm>
            <a:off x="6254496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smtClean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000" dirty="0"/>
          </a:p>
        </p:txBody>
      </p:sp>
      <p:sp>
        <p:nvSpPr>
          <p:cNvPr id="32" name="Text 26"/>
          <p:cNvSpPr txBox="1"/>
          <p:nvPr/>
        </p:nvSpPr>
        <p:spPr>
          <a:xfrm>
            <a:off x="7031736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import-teszt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6254496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smtClean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Fejlécfelismerés, ellenőrzési szabályok, ismételt import, végpontok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Kiegészítő funkció: címkétől a jegyzőkönyvig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oktató jóváhagyta – a 12. alkalomra; a kamerás beolvasás csatlakozási pontja már kész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7030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Címkegenerálás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Hiányzó vagy sérült címke pótlása, helyiségcímkék, PDF címkeív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QuestPDF + ZXing.Net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44952" y="2788920"/>
            <a:ext cx="219456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Shape 9"/>
          <p:cNvSpPr/>
          <p:nvPr/>
        </p:nvSpPr>
        <p:spPr>
          <a:xfrm>
            <a:off x="3474720" y="1554480"/>
            <a:ext cx="594360" cy="59436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310" y="170307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Kamerás beolvasás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Bármely gép leltározóeszköz, QR-kód is, olvasó nélkül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OpenCvSharp4 + ZXing.Net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879592" y="2788920"/>
            <a:ext cx="219456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4"/>
          <p:cNvSpPr/>
          <p:nvPr/>
        </p:nvSpPr>
        <p:spPr>
          <a:xfrm>
            <a:off x="6126480" y="13716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5"/>
          <p:cNvSpPr/>
          <p:nvPr/>
        </p:nvSpPr>
        <p:spPr>
          <a:xfrm>
            <a:off x="6309360" y="1554480"/>
            <a:ext cx="594360" cy="59436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1703070"/>
            <a:ext cx="297180" cy="2971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093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Leltárjegyzőkönyv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Lezárt leltárról, eltéréslistával, aláírási helyekkel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QuestPDF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két rész egymás tesztanyagát adja: a nyomtatott címkével mérhető a kamerás felismerés.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Munkamegosztás és következő lépések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F4B53"/>
          </a:solidFill>
          <a:ln w="12700">
            <a:solidFill>
              <a:srgbClr val="1F4B5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Bárkányi Máté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Kliens és UX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F4B53"/>
          </a:solidFill>
          <a:ln w="12700">
            <a:solidFill>
              <a:srgbClr val="1F4B5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 txBox="1"/>
          <p:nvPr/>
        </p:nvSpPr>
        <p:spPr>
          <a:xfrm>
            <a:off x="344728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41648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Horváth Máté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41648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és üzleti logika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71616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F4B53"/>
          </a:solidFill>
          <a:ln w="12700">
            <a:solidFill>
              <a:srgbClr val="1F4B5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6254496" y="128016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 txBox="1"/>
          <p:nvPr/>
        </p:nvSpPr>
        <p:spPr>
          <a:xfrm>
            <a:off x="625449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48856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 Barnabás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 és minőség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smtClean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7. alkalomig: mennyiségek és eltérő körzet (terv)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6974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Darabszám-nézet: elvárt, beolvasott, hiányzó (B)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Pillanatkép utólagos bővítése (B)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Valódi Excel-forrásfájl, a leképezés igazítása (C)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6974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Hiány és többlet megjelenítése a kliensben (A)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Leltáridőszak kezelése a kliensben (A)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Dokumentáció és tesztek bővítése (mindenki)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smtClean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2076</Words>
  <Application>Microsoft Office PowerPoint</Application>
  <PresentationFormat>Diavetítés a képernyőre (16:9 oldalarány)</PresentationFormat>
  <Paragraphs>250</Paragraphs>
  <Slides>15</Slides>
  <Notes>15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Leltárkezelő rendszer – 4. alkalom</dc:title>
  <dc:subject>PptxGenJS Presentation</dc:subject>
  <dc:creator>PptxGenJS</dc:creator>
  <cp:lastModifiedBy>Home</cp:lastModifiedBy>
  <cp:revision>6</cp:revision>
  <dcterms:created xsi:type="dcterms:W3CDTF">2026-09-29T09:36:38Z</dcterms:created>
  <dcterms:modified xsi:type="dcterms:W3CDTF">2026-10-12T23:33:28Z</dcterms:modified>
</cp:coreProperties>
</file>